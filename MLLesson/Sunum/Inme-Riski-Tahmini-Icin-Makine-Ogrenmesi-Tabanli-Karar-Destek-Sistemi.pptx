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80" r:id="rId2"/>
    <p:sldId id="277" r:id="rId3"/>
    <p:sldId id="256" r:id="rId4"/>
    <p:sldId id="258" r:id="rId5"/>
    <p:sldId id="259" r:id="rId6"/>
    <p:sldId id="262" r:id="rId7"/>
    <p:sldId id="263" r:id="rId8"/>
    <p:sldId id="260" r:id="rId9"/>
    <p:sldId id="264" r:id="rId10"/>
    <p:sldId id="266" r:id="rId11"/>
    <p:sldId id="265" r:id="rId12"/>
    <p:sldId id="267" r:id="rId13"/>
    <p:sldId id="268" r:id="rId14"/>
    <p:sldId id="269" r:id="rId15"/>
    <p:sldId id="271" r:id="rId16"/>
    <p:sldId id="275" r:id="rId17"/>
    <p:sldId id="278" r:id="rId18"/>
    <p:sldId id="279" r:id="rId19"/>
  </p:sldIdLst>
  <p:sldSz cx="14630400" cy="8229600"/>
  <p:notesSz cx="8229600" cy="14630400"/>
  <p:embeddedFontLst>
    <p:embeddedFont>
      <p:font typeface="Funnel Sans" panose="020B0604020202020204" charset="0"/>
      <p:regular r:id="rId21"/>
    </p:embeddedFont>
    <p:embeddedFont>
      <p:font typeface="Montserrat" panose="00000500000000000000" pitchFamily="2" charset="-94"/>
      <p:regular r:id="rId22"/>
      <p:bold r:id="rId23"/>
      <p:italic r:id="rId24"/>
      <p:boldItalic r:id="rId25"/>
    </p:embeddedFont>
    <p:embeddedFont>
      <p:font typeface="Montserrat SemiBold" panose="00000700000000000000" pitchFamily="2" charset="-94"/>
      <p:bold r:id="rId26"/>
      <p:boldItalic r:id="rId27"/>
    </p:embeddedFont>
    <p:embeddedFont>
      <p:font typeface="Roboto" panose="02000000000000000000" pitchFamily="2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1873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3" name="Google Shape;22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5" name="Google Shape;23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548640" y="7627621"/>
            <a:ext cx="256032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749040" y="7627621"/>
            <a:ext cx="347472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7863840" y="7627621"/>
            <a:ext cx="256032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795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11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2.xml"/><Relationship Id="rId4" Type="http://schemas.openxmlformats.org/officeDocument/2006/relationships/hyperlink" Target="https://www.kaggle.com/datasets/fedesoriano/stroke-prediction-dataset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71700" y="5052953"/>
            <a:ext cx="10287000" cy="205489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914520" y="2594880"/>
            <a:ext cx="10801350" cy="1861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00"/>
              </a:lnSpc>
              <a:buClr>
                <a:srgbClr val="000000"/>
              </a:buClr>
              <a:buSzPts val="4200"/>
            </a:pPr>
            <a:r>
              <a:rPr lang="en-US" sz="504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SAĞLIK VERİLERİNDE </a:t>
            </a:r>
            <a:r>
              <a:rPr lang="tr-TR" sz="504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FELÇ RİSKİ SINIFLANDIRMASI</a:t>
            </a:r>
            <a:endParaRPr sz="168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3677596" y="5242451"/>
            <a:ext cx="7275196" cy="398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  <a:buClr>
                <a:srgbClr val="000000"/>
              </a:buClr>
              <a:buSzPts val="1350"/>
            </a:pPr>
            <a:r>
              <a:rPr lang="en-US" sz="1620" b="1" dirty="0" err="1">
                <a:solidFill>
                  <a:srgbClr val="004AAD"/>
                </a:solidFill>
                <a:latin typeface="Roboto"/>
                <a:ea typeface="Roboto"/>
                <a:cs typeface="Roboto"/>
                <a:sym typeface="Roboto"/>
              </a:rPr>
              <a:t>Hazırlayan</a:t>
            </a:r>
            <a:r>
              <a:rPr lang="tr-TR" sz="1620" b="1" dirty="0" err="1">
                <a:solidFill>
                  <a:srgbClr val="004AAD"/>
                </a:solidFill>
                <a:latin typeface="Roboto"/>
                <a:ea typeface="Roboto"/>
                <a:cs typeface="Roboto"/>
                <a:sym typeface="Roboto"/>
              </a:rPr>
              <a:t>lar</a:t>
            </a:r>
            <a:r>
              <a:rPr lang="en-US" sz="1620" b="1" dirty="0">
                <a:solidFill>
                  <a:srgbClr val="004AAD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-US" sz="1620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Buğra TUTUMLU (21253009)</a:t>
            </a:r>
            <a:r>
              <a:rPr lang="tr-TR" sz="1620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  Arife ÇINAR (21253014)</a:t>
            </a:r>
            <a:endParaRPr lang="tr-TR" sz="2160" dirty="0">
              <a:ea typeface="Roboto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582857" y="5830827"/>
            <a:ext cx="3464676" cy="398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  <a:buClr>
                <a:srgbClr val="000000"/>
              </a:buClr>
              <a:buSzPts val="1350"/>
            </a:pPr>
            <a:r>
              <a:rPr lang="en-US" sz="1620" b="1" dirty="0" err="1">
                <a:solidFill>
                  <a:srgbClr val="004AAD"/>
                </a:solidFill>
                <a:latin typeface="Roboto"/>
                <a:ea typeface="Roboto"/>
                <a:cs typeface="Roboto"/>
                <a:sym typeface="Roboto"/>
              </a:rPr>
              <a:t>Danışman</a:t>
            </a:r>
            <a:r>
              <a:rPr lang="en-US" sz="1620" b="1" dirty="0">
                <a:solidFill>
                  <a:srgbClr val="004AAD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-US" sz="1620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tr-TR" sz="1620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Prof. Dr. Serdar İPLİKÇİ</a:t>
            </a:r>
            <a:endParaRPr sz="168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4417691" y="6722981"/>
            <a:ext cx="5968445" cy="354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  <a:buClr>
                <a:srgbClr val="000000"/>
              </a:buClr>
              <a:buSzPts val="1200"/>
            </a:pPr>
            <a:r>
              <a:rPr lang="en-US" sz="144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Pamukkale Üniversitesi | Mühendislik Fakültesi | Bilgisayar Mühendisliği</a:t>
            </a:r>
            <a:endParaRPr sz="168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510814" y="7544951"/>
            <a:ext cx="1608773" cy="310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  <a:buClr>
                <a:srgbClr val="000000"/>
              </a:buClr>
              <a:buSzPts val="1050"/>
            </a:pPr>
            <a:r>
              <a:rPr lang="en-US" sz="126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DENİZLİ, ARALIK 2025</a:t>
            </a:r>
            <a:endParaRPr sz="132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13" descr="Pamukkale Üniversitesi - Vikipedi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83587" y="390139"/>
            <a:ext cx="1463218" cy="14632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Dikdörtgen 1"/>
          <p:cNvSpPr/>
          <p:nvPr/>
        </p:nvSpPr>
        <p:spPr>
          <a:xfrm>
            <a:off x="5918467" y="2012135"/>
            <a:ext cx="3052439" cy="3872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50000"/>
              </a:lnSpc>
            </a:pPr>
            <a:r>
              <a:rPr lang="tr-TR" sz="144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</a:rPr>
              <a:t>MAKİNE ÖĞRENMESİNE GİRİŞ</a:t>
            </a:r>
            <a:endParaRPr lang="en-US" sz="1440" b="1" dirty="0">
              <a:solidFill>
                <a:srgbClr val="004AAD"/>
              </a:solidFill>
              <a:latin typeface="Montserrat"/>
              <a:ea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/>
        </p:nvSpPr>
        <p:spPr>
          <a:xfrm>
            <a:off x="1598970" y="2223244"/>
            <a:ext cx="6038677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  <a:buClr>
                <a:srgbClr val="000000"/>
              </a:buClr>
              <a:buSzPts val="1500"/>
            </a:pPr>
            <a:r>
              <a:rPr lang="en-US" b="1" dirty="0" err="1">
                <a:solidFill>
                  <a:srgbClr val="004AAD"/>
                </a:solidFill>
                <a:latin typeface="Roboto"/>
                <a:ea typeface="Roboto"/>
                <a:cs typeface="Roboto"/>
              </a:rPr>
              <a:t>Giriş</a:t>
            </a:r>
            <a:r>
              <a:rPr lang="en-US" b="1" dirty="0">
                <a:solidFill>
                  <a:srgbClr val="004AAD"/>
                </a:solidFill>
                <a:latin typeface="Roboto"/>
                <a:ea typeface="Roboto"/>
                <a:cs typeface="Roboto"/>
              </a:rPr>
              <a:t>: </a:t>
            </a:r>
            <a:r>
              <a:rPr lang="en-US" b="1" dirty="0" err="1">
                <a:solidFill>
                  <a:srgbClr val="004AAD"/>
                </a:solidFill>
                <a:latin typeface="Roboto"/>
                <a:ea typeface="Roboto"/>
                <a:cs typeface="Roboto"/>
              </a:rPr>
              <a:t>İnme</a:t>
            </a:r>
            <a:r>
              <a:rPr lang="en-US" b="1" dirty="0">
                <a:solidFill>
                  <a:srgbClr val="004AAD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004AAD"/>
                </a:solidFill>
                <a:latin typeface="Roboto"/>
                <a:ea typeface="Roboto"/>
                <a:cs typeface="Roboto"/>
              </a:rPr>
              <a:t>ve</a:t>
            </a:r>
            <a:r>
              <a:rPr lang="en-US" b="1" dirty="0">
                <a:solidFill>
                  <a:srgbClr val="004AAD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004AAD"/>
                </a:solidFill>
                <a:latin typeface="Roboto"/>
                <a:ea typeface="Roboto"/>
                <a:cs typeface="Roboto"/>
              </a:rPr>
              <a:t>Önemi</a:t>
            </a:r>
            <a:r>
              <a:rPr lang="en-US" b="1" dirty="0">
                <a:solidFill>
                  <a:srgbClr val="004AAD"/>
                </a:solidFill>
                <a:latin typeface="Roboto"/>
                <a:ea typeface="Roboto"/>
                <a:cs typeface="Roboto"/>
              </a:rPr>
              <a:t> </a:t>
            </a:r>
            <a:endParaRPr b="1" dirty="0">
              <a:solidFill>
                <a:srgbClr val="004AAD"/>
              </a:solidFill>
              <a:latin typeface="Roboto"/>
              <a:ea typeface="Roboto"/>
              <a:cs typeface="Roboto"/>
              <a:sym typeface="Arial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598971" y="3112368"/>
            <a:ext cx="56578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  <a:buClr>
                <a:srgbClr val="000000"/>
              </a:buClr>
              <a:buSzPts val="1500"/>
            </a:pPr>
            <a:r>
              <a:rPr lang="en-US" b="1" dirty="0" err="1">
                <a:solidFill>
                  <a:srgbClr val="004AAD"/>
                </a:solidFill>
                <a:latin typeface="Roboto"/>
                <a:ea typeface="Roboto"/>
                <a:cs typeface="Roboto"/>
              </a:rPr>
              <a:t>Çalışmanın</a:t>
            </a:r>
            <a:r>
              <a:rPr lang="en-US" b="1" dirty="0">
                <a:solidFill>
                  <a:srgbClr val="004AAD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004AAD"/>
                </a:solidFill>
                <a:latin typeface="Roboto"/>
                <a:ea typeface="Roboto"/>
                <a:cs typeface="Roboto"/>
              </a:rPr>
              <a:t>Amacı</a:t>
            </a:r>
            <a:r>
              <a:rPr lang="en-US" b="1" dirty="0">
                <a:solidFill>
                  <a:srgbClr val="004AAD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004AAD"/>
                </a:solidFill>
                <a:latin typeface="Roboto"/>
                <a:ea typeface="Roboto"/>
                <a:cs typeface="Roboto"/>
              </a:rPr>
              <a:t>ve</a:t>
            </a:r>
            <a:r>
              <a:rPr lang="en-US" b="1" dirty="0">
                <a:solidFill>
                  <a:srgbClr val="004AAD"/>
                </a:solidFill>
                <a:latin typeface="Roboto"/>
                <a:ea typeface="Roboto"/>
                <a:cs typeface="Roboto"/>
              </a:rPr>
              <a:t> Karar Destek </a:t>
            </a:r>
            <a:r>
              <a:rPr lang="en-US" b="1" dirty="0" err="1">
                <a:solidFill>
                  <a:srgbClr val="004AAD"/>
                </a:solidFill>
                <a:latin typeface="Roboto"/>
                <a:ea typeface="Roboto"/>
                <a:cs typeface="Roboto"/>
              </a:rPr>
              <a:t>Sistemi</a:t>
            </a:r>
            <a:r>
              <a:rPr lang="en-US" b="1" dirty="0">
                <a:solidFill>
                  <a:srgbClr val="004AAD"/>
                </a:solidFill>
                <a:latin typeface="Roboto"/>
                <a:ea typeface="Roboto"/>
                <a:cs typeface="Roboto"/>
              </a:rPr>
              <a:t> </a:t>
            </a:r>
            <a:endParaRPr b="1" dirty="0">
              <a:solidFill>
                <a:srgbClr val="004AAD"/>
              </a:solidFill>
              <a:latin typeface="Roboto"/>
              <a:ea typeface="Roboto"/>
              <a:cs typeface="Roboto"/>
              <a:sym typeface="Arial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1598970" y="3985490"/>
            <a:ext cx="660175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  <a:buClr>
                <a:srgbClr val="000000"/>
              </a:buClr>
              <a:buSzPts val="1500"/>
            </a:pPr>
            <a:r>
              <a:rPr lang="en-US" b="1" dirty="0">
                <a:solidFill>
                  <a:srgbClr val="004AAD"/>
                </a:solidFill>
                <a:latin typeface="Roboto"/>
                <a:ea typeface="Roboto"/>
                <a:cs typeface="Roboto"/>
              </a:rPr>
              <a:t>Veri Seti </a:t>
            </a:r>
            <a:r>
              <a:rPr lang="en-US" b="1" dirty="0" err="1">
                <a:solidFill>
                  <a:srgbClr val="004AAD"/>
                </a:solidFill>
                <a:latin typeface="Roboto"/>
                <a:ea typeface="Roboto"/>
                <a:cs typeface="Roboto"/>
              </a:rPr>
              <a:t>Tanımı</a:t>
            </a:r>
            <a:r>
              <a:rPr lang="en-US" b="1" dirty="0">
                <a:solidFill>
                  <a:srgbClr val="004AAD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004AAD"/>
                </a:solidFill>
                <a:latin typeface="Roboto"/>
                <a:ea typeface="Roboto"/>
                <a:cs typeface="Roboto"/>
              </a:rPr>
              <a:t>ve</a:t>
            </a:r>
            <a:r>
              <a:rPr lang="en-US" b="1" dirty="0">
                <a:solidFill>
                  <a:srgbClr val="004AAD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004AAD"/>
                </a:solidFill>
                <a:latin typeface="Roboto"/>
                <a:ea typeface="Roboto"/>
                <a:cs typeface="Roboto"/>
              </a:rPr>
              <a:t>Öznitelik</a:t>
            </a:r>
            <a:r>
              <a:rPr lang="en-US" b="1" dirty="0">
                <a:solidFill>
                  <a:srgbClr val="004AAD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004AAD"/>
                </a:solidFill>
                <a:latin typeface="Roboto"/>
                <a:ea typeface="Roboto"/>
                <a:cs typeface="Roboto"/>
              </a:rPr>
              <a:t>Analizi</a:t>
            </a:r>
            <a:r>
              <a:rPr lang="en-US" b="1" dirty="0">
                <a:solidFill>
                  <a:srgbClr val="004AAD"/>
                </a:solidFill>
                <a:latin typeface="Roboto"/>
                <a:ea typeface="Roboto"/>
                <a:cs typeface="Roboto"/>
              </a:rPr>
              <a:t> </a:t>
            </a:r>
            <a:endParaRPr b="1" dirty="0">
              <a:solidFill>
                <a:srgbClr val="004AAD"/>
              </a:solidFill>
              <a:latin typeface="Roboto"/>
              <a:ea typeface="Roboto"/>
              <a:cs typeface="Roboto"/>
              <a:sym typeface="Arial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1598971" y="4821837"/>
            <a:ext cx="56578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  <a:buClr>
                <a:srgbClr val="000000"/>
              </a:buClr>
              <a:buSzPts val="1500"/>
            </a:pPr>
            <a:r>
              <a:rPr lang="tr-TR" b="1" dirty="0">
                <a:solidFill>
                  <a:srgbClr val="004AAD"/>
                </a:solidFill>
                <a:latin typeface="Roboto"/>
                <a:ea typeface="Roboto"/>
                <a:cs typeface="Roboto"/>
                <a:sym typeface="Arial"/>
              </a:rPr>
              <a:t>Veri Ön İşleme ve Hazırlık Hattı</a:t>
            </a:r>
            <a:endParaRPr b="1" dirty="0">
              <a:solidFill>
                <a:srgbClr val="004AAD"/>
              </a:solidFill>
              <a:latin typeface="Roboto"/>
              <a:ea typeface="Roboto"/>
              <a:cs typeface="Roboto"/>
              <a:sym typeface="Arial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1598973" y="5643026"/>
            <a:ext cx="6746131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  <a:buClr>
                <a:srgbClr val="000000"/>
              </a:buClr>
              <a:buSzPts val="1500"/>
            </a:pPr>
            <a:r>
              <a:rPr lang="en-US" b="1" dirty="0" err="1">
                <a:solidFill>
                  <a:srgbClr val="004AAD"/>
                </a:solidFill>
                <a:latin typeface="Roboto"/>
                <a:ea typeface="Roboto"/>
                <a:cs typeface="Roboto"/>
              </a:rPr>
              <a:t>Yöntem</a:t>
            </a:r>
            <a:r>
              <a:rPr lang="en-US" b="1" dirty="0">
                <a:solidFill>
                  <a:srgbClr val="004AAD"/>
                </a:solidFill>
                <a:latin typeface="Roboto"/>
                <a:ea typeface="Roboto"/>
                <a:cs typeface="Roboto"/>
              </a:rPr>
              <a:t>: Feature Engineering </a:t>
            </a:r>
            <a:r>
              <a:rPr lang="en-US" b="1" dirty="0" err="1">
                <a:solidFill>
                  <a:srgbClr val="004AAD"/>
                </a:solidFill>
                <a:latin typeface="Roboto"/>
                <a:ea typeface="Roboto"/>
                <a:cs typeface="Roboto"/>
              </a:rPr>
              <a:t>ve</a:t>
            </a:r>
            <a:r>
              <a:rPr lang="en-US" b="1" dirty="0">
                <a:solidFill>
                  <a:srgbClr val="004AAD"/>
                </a:solidFill>
                <a:latin typeface="Roboto"/>
                <a:ea typeface="Roboto"/>
                <a:cs typeface="Roboto"/>
              </a:rPr>
              <a:t> Model </a:t>
            </a:r>
            <a:r>
              <a:rPr lang="en-US" b="1" dirty="0" err="1">
                <a:solidFill>
                  <a:srgbClr val="004AAD"/>
                </a:solidFill>
                <a:latin typeface="Roboto"/>
                <a:ea typeface="Roboto"/>
                <a:cs typeface="Roboto"/>
              </a:rPr>
              <a:t>Seçimi</a:t>
            </a:r>
            <a:r>
              <a:rPr lang="en-US" b="1" dirty="0">
                <a:solidFill>
                  <a:srgbClr val="004AAD"/>
                </a:solidFill>
                <a:latin typeface="Roboto"/>
                <a:ea typeface="Roboto"/>
                <a:cs typeface="Roboto"/>
              </a:rPr>
              <a:t> </a:t>
            </a:r>
            <a:endParaRPr b="1" dirty="0">
              <a:solidFill>
                <a:srgbClr val="004AAD"/>
              </a:solidFill>
              <a:latin typeface="Roboto"/>
              <a:ea typeface="Roboto"/>
              <a:cs typeface="Roboto"/>
              <a:sym typeface="Arial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1598972" y="6553881"/>
            <a:ext cx="6601752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  <a:buClr>
                <a:srgbClr val="000000"/>
              </a:buClr>
              <a:buSzPts val="1500"/>
            </a:pPr>
            <a:r>
              <a:rPr lang="en-US" b="1" dirty="0">
                <a:solidFill>
                  <a:srgbClr val="004AAD"/>
                </a:solidFill>
                <a:latin typeface="Roboto"/>
                <a:ea typeface="Roboto"/>
                <a:cs typeface="Roboto"/>
              </a:rPr>
              <a:t>Model </a:t>
            </a:r>
            <a:r>
              <a:rPr lang="en-US" b="1" dirty="0" err="1">
                <a:solidFill>
                  <a:srgbClr val="004AAD"/>
                </a:solidFill>
                <a:latin typeface="Roboto"/>
                <a:ea typeface="Roboto"/>
                <a:cs typeface="Roboto"/>
              </a:rPr>
              <a:t>Performansı</a:t>
            </a:r>
            <a:r>
              <a:rPr lang="en-US" b="1" dirty="0">
                <a:solidFill>
                  <a:srgbClr val="004AAD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004AAD"/>
                </a:solidFill>
                <a:latin typeface="Roboto"/>
                <a:ea typeface="Roboto"/>
                <a:cs typeface="Roboto"/>
              </a:rPr>
              <a:t>ve</a:t>
            </a:r>
            <a:r>
              <a:rPr lang="en-US" b="1" dirty="0">
                <a:solidFill>
                  <a:srgbClr val="004AAD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004AAD"/>
                </a:solidFill>
                <a:latin typeface="Roboto"/>
                <a:ea typeface="Roboto"/>
                <a:cs typeface="Roboto"/>
              </a:rPr>
              <a:t>Eşik</a:t>
            </a:r>
            <a:r>
              <a:rPr lang="en-US" b="1" dirty="0">
                <a:solidFill>
                  <a:srgbClr val="004AAD"/>
                </a:solidFill>
                <a:latin typeface="Roboto"/>
                <a:ea typeface="Roboto"/>
                <a:cs typeface="Roboto"/>
              </a:rPr>
              <a:t> Değer (Threshold) </a:t>
            </a:r>
            <a:r>
              <a:rPr lang="en-US" b="1" dirty="0" err="1">
                <a:solidFill>
                  <a:srgbClr val="004AAD"/>
                </a:solidFill>
                <a:latin typeface="Roboto"/>
                <a:ea typeface="Roboto"/>
                <a:cs typeface="Roboto"/>
              </a:rPr>
              <a:t>Optimizasyonu</a:t>
            </a:r>
            <a:endParaRPr b="1" dirty="0">
              <a:solidFill>
                <a:srgbClr val="004AAD"/>
              </a:solidFill>
              <a:latin typeface="Roboto"/>
              <a:ea typeface="Roboto"/>
              <a:cs typeface="Roboto"/>
              <a:sym typeface="Arial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5729032" y="792806"/>
            <a:ext cx="4155316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rgbClr val="000000"/>
              </a:buClr>
              <a:buSzPts val="3150"/>
            </a:pPr>
            <a:r>
              <a:rPr lang="en-US" sz="3780" dirty="0" err="1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Sunum</a:t>
            </a:r>
            <a:r>
              <a:rPr lang="en-US" sz="3780" dirty="0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3780" dirty="0" err="1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İçeriği</a:t>
            </a:r>
            <a:endParaRPr sz="168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14" descr="A white circle with a line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7261" y="2129376"/>
            <a:ext cx="661712" cy="50029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number in a circle&#10;&#10;AI-generated content may be incorrect.">
            <a:extLst>
              <a:ext uri="{FF2B5EF4-FFF2-40B4-BE49-F238E27FC236}">
                <a16:creationId xmlns:a16="http://schemas.microsoft.com/office/drawing/2014/main" id="{DA89BB68-96EE-C3C6-B752-E483C5D934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711" r="13711"/>
          <a:stretch>
            <a:fillRect/>
          </a:stretch>
        </p:blipFill>
        <p:spPr>
          <a:xfrm>
            <a:off x="937261" y="6997079"/>
            <a:ext cx="661710" cy="841586"/>
          </a:xfrm>
          <a:prstGeom prst="rect">
            <a:avLst/>
          </a:prstGeom>
        </p:spPr>
      </p:pic>
      <p:sp>
        <p:nvSpPr>
          <p:cNvPr id="11" name="Google Shape;97;p14">
            <a:extLst>
              <a:ext uri="{FF2B5EF4-FFF2-40B4-BE49-F238E27FC236}">
                <a16:creationId xmlns:a16="http://schemas.microsoft.com/office/drawing/2014/main" id="{FEDB6404-4E77-F47C-4262-3DEC5BAFFD8F}"/>
              </a:ext>
            </a:extLst>
          </p:cNvPr>
          <p:cNvSpPr txBox="1"/>
          <p:nvPr/>
        </p:nvSpPr>
        <p:spPr>
          <a:xfrm>
            <a:off x="1598969" y="7243137"/>
            <a:ext cx="6038677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  <a:buClr>
                <a:srgbClr val="000000"/>
              </a:buClr>
              <a:buSzPts val="1500"/>
            </a:pPr>
            <a:r>
              <a:rPr lang="tr-TR" b="1" dirty="0">
                <a:solidFill>
                  <a:srgbClr val="004AAD"/>
                </a:solidFill>
                <a:latin typeface="Roboto"/>
                <a:ea typeface="Roboto"/>
                <a:cs typeface="Roboto"/>
              </a:rPr>
              <a:t>Sonuç</a:t>
            </a:r>
            <a:endParaRPr b="1" dirty="0">
              <a:solidFill>
                <a:srgbClr val="004AAD"/>
              </a:solidFill>
              <a:latin typeface="Roboto"/>
              <a:ea typeface="Roboto"/>
              <a:cs typeface="Roboto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55746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tr-TR" sz="3150" dirty="0">
                <a:solidFill>
                  <a:srgbClr val="1E293B"/>
                </a:solidFill>
                <a:latin typeface="Montserrat SemiBold"/>
                <a:sym typeface="Arial"/>
              </a:rPr>
              <a:t>İNME VE ÖNEMİ</a:t>
            </a:r>
            <a:endParaRPr lang="en-US" sz="3150" dirty="0">
              <a:solidFill>
                <a:srgbClr val="1E293B"/>
              </a:solidFill>
              <a:latin typeface="Montserrat SemiBold"/>
              <a:sym typeface="Arial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89" y="3461264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2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İnme, beyne giden kan akışının kesilmesiyle ortaya çıkan ciddi bir nörolojik hastalıktır. Erken tanı ve hızlı müdahale kritik öneme sahiptir. Makine öğrenmesi tabanlı sistemler, risk faktörlerini değerlendirerek daha sistematik bir öngörü </a:t>
            </a:r>
            <a:r>
              <a:rPr lang="en-US" sz="162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sunar</a:t>
            </a:r>
            <a:r>
              <a:rPr lang="en-US" sz="162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12614"/>
            <a:ext cx="510361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3150" dirty="0" err="1">
                <a:solidFill>
                  <a:srgbClr val="1E293B"/>
                </a:solidFill>
                <a:latin typeface="Montserrat SemiBold"/>
              </a:rPr>
              <a:t>Çalışmanın</a:t>
            </a:r>
            <a:r>
              <a:rPr lang="en-US" sz="3150" dirty="0">
                <a:solidFill>
                  <a:srgbClr val="1E293B"/>
                </a:solidFill>
                <a:latin typeface="Montserrat SemiBold"/>
              </a:rPr>
              <a:t> </a:t>
            </a:r>
            <a:r>
              <a:rPr lang="en-US" sz="3150" dirty="0" err="1">
                <a:solidFill>
                  <a:srgbClr val="1E293B"/>
                </a:solidFill>
                <a:latin typeface="Montserrat SemiBold"/>
              </a:rPr>
              <a:t>Amacı</a:t>
            </a:r>
            <a:endParaRPr lang="en-US" sz="3150" dirty="0">
              <a:solidFill>
                <a:srgbClr val="1E293B"/>
              </a:solidFill>
              <a:latin typeface="Montserrat SemiBold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280190" y="2162770"/>
            <a:ext cx="3676174" cy="2812018"/>
          </a:xfrm>
          <a:prstGeom prst="roundRect">
            <a:avLst>
              <a:gd name="adj" fmla="val 3902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280190" y="2139910"/>
            <a:ext cx="3676174" cy="91440"/>
          </a:xfrm>
          <a:prstGeom prst="roundRect">
            <a:avLst>
              <a:gd name="adj" fmla="val 93767"/>
            </a:avLst>
          </a:prstGeom>
          <a:solidFill>
            <a:srgbClr val="373B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812107" y="1856661"/>
            <a:ext cx="612338" cy="612338"/>
          </a:xfrm>
          <a:prstGeom prst="roundRect">
            <a:avLst>
              <a:gd name="adj" fmla="val 149329"/>
            </a:avLst>
          </a:prstGeom>
          <a:solidFill>
            <a:srgbClr val="373B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995821" y="2009775"/>
            <a:ext cx="244912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sp>
        <p:nvSpPr>
          <p:cNvPr id="8" name="Text 5"/>
          <p:cNvSpPr/>
          <p:nvPr/>
        </p:nvSpPr>
        <p:spPr>
          <a:xfrm>
            <a:off x="6507123" y="2673072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b="1" dirty="0">
                <a:solidFill>
                  <a:srgbClr val="004AAD"/>
                </a:solidFill>
                <a:latin typeface="Roboto"/>
                <a:ea typeface="Roboto"/>
                <a:cs typeface="Roboto"/>
              </a:rPr>
              <a:t>Model </a:t>
            </a:r>
            <a:r>
              <a:rPr lang="en-US" b="1" dirty="0" err="1">
                <a:solidFill>
                  <a:srgbClr val="004AAD"/>
                </a:solidFill>
                <a:latin typeface="Roboto"/>
                <a:ea typeface="Roboto"/>
                <a:cs typeface="Roboto"/>
              </a:rPr>
              <a:t>Geliştirme</a:t>
            </a:r>
            <a:endParaRPr lang="en-US" b="1" dirty="0">
              <a:solidFill>
                <a:srgbClr val="004AAD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9" name="Text 6"/>
          <p:cNvSpPr/>
          <p:nvPr/>
        </p:nvSpPr>
        <p:spPr>
          <a:xfrm>
            <a:off x="6507123" y="3114318"/>
            <a:ext cx="3222308" cy="1633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Bireylerin demografik ve klinik özelliklerini kullanarak inme riskini tahmin eden, yorumlanabilir ve kontrollü bir makine öğrenmesi modeli </a:t>
            </a:r>
            <a:r>
              <a:rPr lang="en-US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geliştirmek</a:t>
            </a:r>
            <a:r>
              <a:rPr lang="en-US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.</a:t>
            </a:r>
          </a:p>
        </p:txBody>
      </p:sp>
      <p:sp>
        <p:nvSpPr>
          <p:cNvPr id="10" name="Shape 7"/>
          <p:cNvSpPr/>
          <p:nvPr/>
        </p:nvSpPr>
        <p:spPr>
          <a:xfrm>
            <a:off x="10160437" y="2162770"/>
            <a:ext cx="3676174" cy="2812018"/>
          </a:xfrm>
          <a:prstGeom prst="roundRect">
            <a:avLst>
              <a:gd name="adj" fmla="val 3902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0160437" y="2139910"/>
            <a:ext cx="3676174" cy="91440"/>
          </a:xfrm>
          <a:prstGeom prst="roundRect">
            <a:avLst>
              <a:gd name="adj" fmla="val 93767"/>
            </a:avLst>
          </a:prstGeom>
          <a:solidFill>
            <a:srgbClr val="373B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1692354" y="1856661"/>
            <a:ext cx="612338" cy="612338"/>
          </a:xfrm>
          <a:prstGeom prst="roundRect">
            <a:avLst>
              <a:gd name="adj" fmla="val 149329"/>
            </a:avLst>
          </a:prstGeom>
          <a:solidFill>
            <a:srgbClr val="373B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1876068" y="2009775"/>
            <a:ext cx="244912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50"/>
              </a:lnSpc>
            </a:pPr>
            <a:r>
              <a:rPr lang="en-US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2</a:t>
            </a:r>
          </a:p>
        </p:txBody>
      </p:sp>
      <p:sp>
        <p:nvSpPr>
          <p:cNvPr id="14" name="Text 11"/>
          <p:cNvSpPr/>
          <p:nvPr/>
        </p:nvSpPr>
        <p:spPr>
          <a:xfrm>
            <a:off x="10387370" y="2673072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b="1" dirty="0" err="1">
                <a:solidFill>
                  <a:srgbClr val="004AAD"/>
                </a:solidFill>
                <a:latin typeface="Roboto"/>
                <a:ea typeface="Roboto"/>
                <a:cs typeface="Roboto"/>
              </a:rPr>
              <a:t>Ön</a:t>
            </a:r>
            <a:r>
              <a:rPr lang="en-US" b="1" dirty="0">
                <a:solidFill>
                  <a:srgbClr val="004AAD"/>
                </a:solidFill>
                <a:latin typeface="Roboto"/>
                <a:ea typeface="Roboto"/>
                <a:cs typeface="Roboto"/>
              </a:rPr>
              <a:t> Tarama</a:t>
            </a:r>
          </a:p>
        </p:txBody>
      </p:sp>
      <p:sp>
        <p:nvSpPr>
          <p:cNvPr id="15" name="Text 12"/>
          <p:cNvSpPr/>
          <p:nvPr/>
        </p:nvSpPr>
        <p:spPr>
          <a:xfrm>
            <a:off x="10387370" y="3114318"/>
            <a:ext cx="3222308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Geliştirilen modeli ön tarama amaçlı bir karar destek sistemi olarak </a:t>
            </a:r>
            <a:r>
              <a:rPr lang="en-US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değerlendirmek</a:t>
            </a:r>
            <a:r>
              <a:rPr lang="en-US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.</a:t>
            </a:r>
          </a:p>
        </p:txBody>
      </p:sp>
      <p:sp>
        <p:nvSpPr>
          <p:cNvPr id="16" name="Shape 13"/>
          <p:cNvSpPr/>
          <p:nvPr/>
        </p:nvSpPr>
        <p:spPr>
          <a:xfrm>
            <a:off x="6280190" y="5484971"/>
            <a:ext cx="7556421" cy="1831896"/>
          </a:xfrm>
          <a:prstGeom prst="roundRect">
            <a:avLst>
              <a:gd name="adj" fmla="val 5990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280190" y="5462111"/>
            <a:ext cx="7556421" cy="91440"/>
          </a:xfrm>
          <a:prstGeom prst="roundRect">
            <a:avLst>
              <a:gd name="adj" fmla="val 93767"/>
            </a:avLst>
          </a:prstGeom>
          <a:solidFill>
            <a:srgbClr val="373B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507123" y="5995273"/>
            <a:ext cx="3193256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ts val="2500"/>
              </a:lnSpc>
              <a:buNone/>
            </a:pPr>
            <a:r>
              <a:rPr lang="en-US" b="1" dirty="0">
                <a:solidFill>
                  <a:srgbClr val="004AAD"/>
                </a:solidFill>
                <a:latin typeface="Roboto"/>
                <a:ea typeface="Roboto"/>
                <a:cs typeface="Roboto"/>
              </a:rPr>
              <a:t>Yanlış </a:t>
            </a:r>
            <a:r>
              <a:rPr lang="en-US" b="1" dirty="0" err="1">
                <a:solidFill>
                  <a:srgbClr val="004AAD"/>
                </a:solidFill>
                <a:latin typeface="Roboto"/>
                <a:ea typeface="Roboto"/>
                <a:cs typeface="Roboto"/>
              </a:rPr>
              <a:t>Negatifleri</a:t>
            </a:r>
            <a:r>
              <a:rPr lang="en-US" b="1" dirty="0">
                <a:solidFill>
                  <a:srgbClr val="004AAD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004AAD"/>
                </a:solidFill>
                <a:latin typeface="Roboto"/>
                <a:ea typeface="Roboto"/>
                <a:cs typeface="Roboto"/>
              </a:rPr>
              <a:t>Azaltma</a:t>
            </a:r>
            <a:endParaRPr lang="en-US" b="1" dirty="0">
              <a:solidFill>
                <a:srgbClr val="004AAD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507123" y="6436519"/>
            <a:ext cx="7102554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lnSpc>
                <a:spcPts val="2550"/>
              </a:lnSpc>
              <a:buNone/>
            </a:pPr>
            <a:r>
              <a:rPr lang="en-US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Özellikle yanlış negatiflerin (riskli bireyin risksiz sınıflandırılması) maliyeti göz önünde </a:t>
            </a:r>
            <a:r>
              <a:rPr lang="en-US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bulundurulmuştur</a:t>
            </a:r>
            <a:r>
              <a:rPr lang="en-US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.</a:t>
            </a:r>
          </a:p>
        </p:txBody>
      </p:sp>
      <p:pic>
        <p:nvPicPr>
          <p:cNvPr id="23" name="Picture 22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B8C2B155-E260-5D3C-AF7F-2036C8727B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2428" y="7610475"/>
            <a:ext cx="1877972" cy="6191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67420"/>
            <a:ext cx="586990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150" dirty="0">
                <a:solidFill>
                  <a:srgbClr val="1E293B"/>
                </a:solidFill>
                <a:latin typeface="Montserrat SemiBold"/>
              </a:rPr>
              <a:t>Veri Seti ve </a:t>
            </a:r>
            <a:r>
              <a:rPr lang="en-US" sz="3150" dirty="0" err="1">
                <a:solidFill>
                  <a:srgbClr val="1E293B"/>
                </a:solidFill>
                <a:latin typeface="Montserrat SemiBold"/>
              </a:rPr>
              <a:t>Ön</a:t>
            </a:r>
            <a:r>
              <a:rPr lang="en-US" sz="3150" dirty="0">
                <a:solidFill>
                  <a:srgbClr val="1E293B"/>
                </a:solidFill>
                <a:latin typeface="Montserrat SemiBold"/>
              </a:rPr>
              <a:t> </a:t>
            </a:r>
            <a:r>
              <a:rPr lang="en-US" sz="3150" dirty="0" err="1">
                <a:solidFill>
                  <a:srgbClr val="1E293B"/>
                </a:solidFill>
                <a:latin typeface="Montserrat SemiBold"/>
              </a:rPr>
              <a:t>İşleme</a:t>
            </a:r>
            <a:endParaRPr lang="en-US" sz="3150" dirty="0">
              <a:solidFill>
                <a:srgbClr val="1E293B"/>
              </a:solidFill>
              <a:latin typeface="Montserrat SemiBold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5431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b="1" dirty="0">
                <a:solidFill>
                  <a:srgbClr val="004AAD"/>
                </a:solidFill>
                <a:latin typeface="Roboto"/>
                <a:ea typeface="Roboto"/>
                <a:cs typeface="Roboto"/>
              </a:rPr>
              <a:t>Veri Seti </a:t>
            </a:r>
            <a:r>
              <a:rPr lang="en-US" b="1" dirty="0" err="1">
                <a:solidFill>
                  <a:srgbClr val="004AAD"/>
                </a:solidFill>
                <a:latin typeface="Roboto"/>
                <a:ea typeface="Roboto"/>
                <a:cs typeface="Roboto"/>
              </a:rPr>
              <a:t>Detayları</a:t>
            </a:r>
            <a:endParaRPr lang="en-US" b="1" dirty="0">
              <a:solidFill>
                <a:srgbClr val="004AAD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12431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Açık erişimli sağlık veri seti, toplam 5110 bireye ait kayıt </a:t>
            </a:r>
            <a:r>
              <a:rPr lang="en-US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içerir</a:t>
            </a:r>
            <a:r>
              <a:rPr lang="en-US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.</a:t>
            </a:r>
          </a:p>
        </p:txBody>
      </p:sp>
      <p:sp>
        <p:nvSpPr>
          <p:cNvPr id="5" name="Text 3"/>
          <p:cNvSpPr/>
          <p:nvPr/>
        </p:nvSpPr>
        <p:spPr>
          <a:xfrm>
            <a:off x="793790" y="369129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ts val="28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Stroke vakaları: %4.87</a:t>
            </a:r>
          </a:p>
        </p:txBody>
      </p:sp>
      <p:sp>
        <p:nvSpPr>
          <p:cNvPr id="6" name="Text 4"/>
          <p:cNvSpPr/>
          <p:nvPr/>
        </p:nvSpPr>
        <p:spPr>
          <a:xfrm>
            <a:off x="793790" y="413349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-342900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Non-stroke vakaları: %95.13</a:t>
            </a:r>
          </a:p>
        </p:txBody>
      </p:sp>
      <p:sp>
        <p:nvSpPr>
          <p:cNvPr id="7" name="Text 5"/>
          <p:cNvSpPr/>
          <p:nvPr/>
        </p:nvSpPr>
        <p:spPr>
          <a:xfrm>
            <a:off x="793790" y="470046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  <a:buSzPct val="100000"/>
            </a:pPr>
            <a:r>
              <a:rPr lang="en-US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Bu dağılım, veri setinin ciddi derecede dengesiz olduğunu </a:t>
            </a:r>
            <a:r>
              <a:rPr lang="en-US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göstermektedir</a:t>
            </a:r>
            <a:r>
              <a:rPr lang="en-US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.</a:t>
            </a: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521" y="2571512"/>
            <a:ext cx="6244709" cy="4135398"/>
          </a:xfrm>
          <a:prstGeom prst="rect">
            <a:avLst/>
          </a:prstGeom>
        </p:spPr>
      </p:pic>
      <p:pic>
        <p:nvPicPr>
          <p:cNvPr id="9" name="Picture 8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2B582782-F45E-FCA5-41EF-A253731FB5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2428" y="7610475"/>
            <a:ext cx="1877972" cy="6191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90744"/>
            <a:ext cx="76451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150" dirty="0">
                <a:solidFill>
                  <a:srgbClr val="1E293B"/>
                </a:solidFill>
                <a:latin typeface="Montserrat SemiBold"/>
              </a:rPr>
              <a:t>Kullanılan Özellikler: </a:t>
            </a:r>
            <a:r>
              <a:rPr lang="en-US" sz="3150" dirty="0" err="1">
                <a:solidFill>
                  <a:srgbClr val="1E293B"/>
                </a:solidFill>
                <a:latin typeface="Montserrat SemiBold"/>
              </a:rPr>
              <a:t>Sayısal</a:t>
            </a:r>
            <a:endParaRPr lang="en-US" sz="3150" dirty="0">
              <a:solidFill>
                <a:srgbClr val="1E293B"/>
              </a:solidFill>
              <a:latin typeface="Montserrat Semi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353151"/>
            <a:ext cx="4196358" cy="2229445"/>
          </a:xfrm>
          <a:prstGeom prst="roundRect">
            <a:avLst>
              <a:gd name="adj" fmla="val 4273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28224" y="258758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373B4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2774633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34948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b="1" dirty="0" err="1">
                <a:solidFill>
                  <a:srgbClr val="004AAD"/>
                </a:solidFill>
                <a:latin typeface="Roboto"/>
                <a:ea typeface="Roboto"/>
                <a:cs typeface="Roboto"/>
              </a:rPr>
              <a:t>Yaş</a:t>
            </a:r>
            <a:endParaRPr lang="en-US" b="1" dirty="0">
              <a:solidFill>
                <a:srgbClr val="004AAD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28224" y="3985260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İnme riskinin en güçlü belirleyicisi.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2353151"/>
            <a:ext cx="4196358" cy="2229445"/>
          </a:xfrm>
          <a:prstGeom prst="roundRect">
            <a:avLst>
              <a:gd name="adj" fmla="val 4273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51396" y="258758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373B4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8562" y="2774633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1396" y="34948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b="1" dirty="0" err="1">
                <a:solidFill>
                  <a:srgbClr val="004AAD"/>
                </a:solidFill>
                <a:latin typeface="Roboto"/>
                <a:ea typeface="Roboto"/>
                <a:cs typeface="Roboto"/>
              </a:rPr>
              <a:t>Hipertansiyon</a:t>
            </a:r>
            <a:endParaRPr lang="en-US" b="1" dirty="0">
              <a:solidFill>
                <a:srgbClr val="004AAD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451396" y="3985260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Hipertansiyon varlığı (0/1).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2353151"/>
            <a:ext cx="4196358" cy="2229445"/>
          </a:xfrm>
          <a:prstGeom prst="roundRect">
            <a:avLst>
              <a:gd name="adj" fmla="val 4273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9874568" y="258758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373B4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61734" y="2774633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4568" y="34948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ts val="2750"/>
              </a:lnSpc>
              <a:buNone/>
            </a:pPr>
            <a:r>
              <a:rPr lang="en-US" b="1" dirty="0">
                <a:solidFill>
                  <a:srgbClr val="004AAD"/>
                </a:solidFill>
                <a:latin typeface="Roboto"/>
                <a:ea typeface="Roboto"/>
                <a:cs typeface="Roboto"/>
              </a:rPr>
              <a:t>Kalp </a:t>
            </a:r>
            <a:r>
              <a:rPr lang="en-US" b="1" dirty="0" err="1">
                <a:solidFill>
                  <a:srgbClr val="004AAD"/>
                </a:solidFill>
                <a:latin typeface="Roboto"/>
                <a:ea typeface="Roboto"/>
                <a:cs typeface="Roboto"/>
              </a:rPr>
              <a:t>Hastalığı</a:t>
            </a:r>
            <a:endParaRPr lang="en-US" b="1" dirty="0">
              <a:solidFill>
                <a:srgbClr val="004AAD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9874568" y="3985260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Kalp hastalığı öyküsü (0/1).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93790" y="4809411"/>
            <a:ext cx="6407944" cy="2229445"/>
          </a:xfrm>
          <a:prstGeom prst="roundRect">
            <a:avLst>
              <a:gd name="adj" fmla="val 4273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1028224" y="504384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373B4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15390" y="5230892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28224" y="5951101"/>
            <a:ext cx="34301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b="1" dirty="0">
                <a:solidFill>
                  <a:srgbClr val="004AAD"/>
                </a:solidFill>
                <a:latin typeface="Roboto"/>
                <a:ea typeface="Roboto"/>
                <a:cs typeface="Roboto"/>
              </a:rPr>
              <a:t>Ortalama </a:t>
            </a:r>
            <a:r>
              <a:rPr lang="en-US" b="1" dirty="0" err="1">
                <a:solidFill>
                  <a:srgbClr val="004AAD"/>
                </a:solidFill>
                <a:latin typeface="Roboto"/>
                <a:ea typeface="Roboto"/>
                <a:cs typeface="Roboto"/>
              </a:rPr>
              <a:t>Glikoz</a:t>
            </a:r>
            <a:r>
              <a:rPr lang="en-US" b="1" dirty="0">
                <a:solidFill>
                  <a:srgbClr val="004AAD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004AAD"/>
                </a:solidFill>
                <a:latin typeface="Roboto"/>
                <a:ea typeface="Roboto"/>
                <a:cs typeface="Roboto"/>
              </a:rPr>
              <a:t>Seviyesi</a:t>
            </a:r>
            <a:endParaRPr lang="en-US" b="1" dirty="0">
              <a:solidFill>
                <a:srgbClr val="004AAD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1028224" y="6441519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Diyabet ve damar sağlığıyla ilişkili.</a:t>
            </a:r>
            <a:endParaRPr lang="en-US" sz="1750" dirty="0"/>
          </a:p>
        </p:txBody>
      </p:sp>
      <p:sp>
        <p:nvSpPr>
          <p:cNvPr id="23" name="Shape 17"/>
          <p:cNvSpPr/>
          <p:nvPr/>
        </p:nvSpPr>
        <p:spPr>
          <a:xfrm>
            <a:off x="7428548" y="4809411"/>
            <a:ext cx="6407944" cy="2229445"/>
          </a:xfrm>
          <a:prstGeom prst="roundRect">
            <a:avLst>
              <a:gd name="adj" fmla="val 4273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7662982" y="504384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373B4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50148" y="5230892"/>
            <a:ext cx="306110" cy="30611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62982" y="59511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ts val="2750"/>
              </a:lnSpc>
              <a:buNone/>
            </a:pPr>
            <a:r>
              <a:rPr lang="en-US" b="1" dirty="0">
                <a:solidFill>
                  <a:srgbClr val="004AAD"/>
                </a:solidFill>
                <a:latin typeface="Roboto"/>
                <a:ea typeface="Roboto"/>
                <a:cs typeface="Roboto"/>
              </a:rPr>
              <a:t>BMI</a:t>
            </a:r>
          </a:p>
        </p:txBody>
      </p:sp>
      <p:sp>
        <p:nvSpPr>
          <p:cNvPr id="27" name="Text 20"/>
          <p:cNvSpPr/>
          <p:nvPr/>
        </p:nvSpPr>
        <p:spPr>
          <a:xfrm>
            <a:off x="7662982" y="6441519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Obezite ve metabolik risklerin göstergesi.</a:t>
            </a:r>
            <a:endParaRPr lang="en-US" sz="17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0F032EC-75BF-0D3E-7FE9-8D7A53DF99C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830533" y="7789149"/>
            <a:ext cx="1799867" cy="440451"/>
          </a:xfrm>
          <a:prstGeom prst="rect">
            <a:avLst/>
          </a:prstGeom>
        </p:spPr>
      </p:pic>
      <p:pic>
        <p:nvPicPr>
          <p:cNvPr id="30" name="Picture 29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D1752021-A424-8228-3B7A-9CF97C45A9F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52428" y="7610475"/>
            <a:ext cx="1877972" cy="6191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52280"/>
            <a:ext cx="83130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150" dirty="0">
                <a:solidFill>
                  <a:srgbClr val="1E293B"/>
                </a:solidFill>
                <a:latin typeface="Montserrat SemiBold"/>
              </a:rPr>
              <a:t>Kullanılan Özellikler: </a:t>
            </a:r>
            <a:r>
              <a:rPr lang="en-US" sz="3150" dirty="0" err="1">
                <a:solidFill>
                  <a:srgbClr val="1E293B"/>
                </a:solidFill>
                <a:latin typeface="Montserrat SemiBold"/>
              </a:rPr>
              <a:t>Kategorik</a:t>
            </a:r>
            <a:endParaRPr lang="en-US" sz="3150" dirty="0">
              <a:solidFill>
                <a:srgbClr val="1E293B"/>
              </a:solidFill>
              <a:latin typeface="Montserrat Semi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3214688"/>
            <a:ext cx="4196358" cy="1367909"/>
          </a:xfrm>
          <a:prstGeom prst="roundRect">
            <a:avLst>
              <a:gd name="adj" fmla="val 10695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3310" y="3214688"/>
            <a:ext cx="121920" cy="1367909"/>
          </a:xfrm>
          <a:prstGeom prst="roundRect">
            <a:avLst>
              <a:gd name="adj" fmla="val 78139"/>
            </a:avLst>
          </a:prstGeom>
          <a:solidFill>
            <a:srgbClr val="373B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2524" y="34719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b="1" dirty="0" err="1">
                <a:solidFill>
                  <a:srgbClr val="004AAD"/>
                </a:solidFill>
                <a:latin typeface="Roboto"/>
                <a:ea typeface="Roboto"/>
                <a:cs typeface="Roboto"/>
              </a:rPr>
              <a:t>Cinsiyet</a:t>
            </a:r>
            <a:endParaRPr lang="en-US" b="1" dirty="0">
              <a:solidFill>
                <a:srgbClr val="004AAD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42524" y="3962400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Bireyin cinsiyeti.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214688"/>
            <a:ext cx="4196358" cy="1367909"/>
          </a:xfrm>
          <a:prstGeom prst="roundRect">
            <a:avLst>
              <a:gd name="adj" fmla="val 10695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186482" y="3214688"/>
            <a:ext cx="121920" cy="1367909"/>
          </a:xfrm>
          <a:prstGeom prst="roundRect">
            <a:avLst>
              <a:gd name="adj" fmla="val 78139"/>
            </a:avLst>
          </a:prstGeom>
          <a:solidFill>
            <a:srgbClr val="373B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565696" y="34719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b="1" dirty="0" err="1">
                <a:solidFill>
                  <a:srgbClr val="004AAD"/>
                </a:solidFill>
                <a:latin typeface="Roboto"/>
                <a:ea typeface="Roboto"/>
                <a:cs typeface="Roboto"/>
              </a:rPr>
              <a:t>Medeni</a:t>
            </a:r>
            <a:r>
              <a:rPr lang="en-US" b="1" dirty="0">
                <a:solidFill>
                  <a:srgbClr val="004AAD"/>
                </a:solidFill>
                <a:latin typeface="Roboto"/>
                <a:ea typeface="Roboto"/>
                <a:cs typeface="Roboto"/>
              </a:rPr>
              <a:t> Durum</a:t>
            </a:r>
          </a:p>
        </p:txBody>
      </p:sp>
      <p:sp>
        <p:nvSpPr>
          <p:cNvPr id="10" name="Text 8"/>
          <p:cNvSpPr/>
          <p:nvPr/>
        </p:nvSpPr>
        <p:spPr>
          <a:xfrm>
            <a:off x="5565696" y="3962400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Evli olup olmama durumu.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3214688"/>
            <a:ext cx="4196358" cy="1367909"/>
          </a:xfrm>
          <a:prstGeom prst="roundRect">
            <a:avLst>
              <a:gd name="adj" fmla="val 10695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609653" y="3214688"/>
            <a:ext cx="121920" cy="1367909"/>
          </a:xfrm>
          <a:prstGeom prst="roundRect">
            <a:avLst>
              <a:gd name="adj" fmla="val 78139"/>
            </a:avLst>
          </a:prstGeom>
          <a:solidFill>
            <a:srgbClr val="373B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988868" y="34719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ts val="2750"/>
              </a:lnSpc>
              <a:buNone/>
            </a:pPr>
            <a:r>
              <a:rPr lang="en-US" b="1" dirty="0" err="1">
                <a:solidFill>
                  <a:srgbClr val="004AAD"/>
                </a:solidFill>
                <a:latin typeface="Roboto"/>
                <a:ea typeface="Roboto"/>
                <a:cs typeface="Roboto"/>
              </a:rPr>
              <a:t>Çalışma</a:t>
            </a:r>
            <a:r>
              <a:rPr lang="en-US" b="1" dirty="0">
                <a:solidFill>
                  <a:srgbClr val="004AAD"/>
                </a:solidFill>
                <a:latin typeface="Roboto"/>
                <a:ea typeface="Roboto"/>
                <a:cs typeface="Roboto"/>
              </a:rPr>
              <a:t> Durumu</a:t>
            </a:r>
          </a:p>
        </p:txBody>
      </p:sp>
      <p:sp>
        <p:nvSpPr>
          <p:cNvPr id="14" name="Text 12"/>
          <p:cNvSpPr/>
          <p:nvPr/>
        </p:nvSpPr>
        <p:spPr>
          <a:xfrm>
            <a:off x="9988868" y="3962400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Bireyin çalışma tipi.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4809411"/>
            <a:ext cx="4196358" cy="1367909"/>
          </a:xfrm>
          <a:prstGeom prst="roundRect">
            <a:avLst>
              <a:gd name="adj" fmla="val 10695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63310" y="4809411"/>
            <a:ext cx="121920" cy="1367909"/>
          </a:xfrm>
          <a:prstGeom prst="roundRect">
            <a:avLst>
              <a:gd name="adj" fmla="val 78139"/>
            </a:avLst>
          </a:prstGeom>
          <a:solidFill>
            <a:srgbClr val="373B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42524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b="1" dirty="0" err="1">
                <a:solidFill>
                  <a:srgbClr val="004AAD"/>
                </a:solidFill>
                <a:latin typeface="Roboto"/>
                <a:ea typeface="Roboto"/>
                <a:cs typeface="Roboto"/>
              </a:rPr>
              <a:t>Yerleşim</a:t>
            </a:r>
            <a:r>
              <a:rPr lang="en-US" b="1" dirty="0">
                <a:solidFill>
                  <a:srgbClr val="004AAD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004AAD"/>
                </a:solidFill>
                <a:latin typeface="Roboto"/>
                <a:ea typeface="Roboto"/>
                <a:cs typeface="Roboto"/>
              </a:rPr>
              <a:t>Türü</a:t>
            </a:r>
            <a:endParaRPr lang="en-US" b="1" dirty="0">
              <a:solidFill>
                <a:srgbClr val="004AAD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42524" y="5557123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Kentsel veya kırsal yerleşim.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5216962" y="4809411"/>
            <a:ext cx="4196358" cy="1367909"/>
          </a:xfrm>
          <a:prstGeom prst="roundRect">
            <a:avLst>
              <a:gd name="adj" fmla="val 10695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186482" y="4809411"/>
            <a:ext cx="121920" cy="1367909"/>
          </a:xfrm>
          <a:prstGeom prst="roundRect">
            <a:avLst>
              <a:gd name="adj" fmla="val 78139"/>
            </a:avLst>
          </a:prstGeom>
          <a:solidFill>
            <a:srgbClr val="373B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565696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ts val="2750"/>
              </a:lnSpc>
              <a:buNone/>
            </a:pPr>
            <a:r>
              <a:rPr lang="en-US" b="1" dirty="0" err="1">
                <a:solidFill>
                  <a:srgbClr val="004AAD"/>
                </a:solidFill>
                <a:latin typeface="Roboto"/>
                <a:ea typeface="Roboto"/>
                <a:cs typeface="Roboto"/>
              </a:rPr>
              <a:t>Sigara</a:t>
            </a:r>
            <a:r>
              <a:rPr lang="en-US" b="1" dirty="0">
                <a:solidFill>
                  <a:srgbClr val="004AAD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004AAD"/>
                </a:solidFill>
                <a:latin typeface="Roboto"/>
                <a:ea typeface="Roboto"/>
                <a:cs typeface="Roboto"/>
              </a:rPr>
              <a:t>Kullanımı</a:t>
            </a:r>
            <a:endParaRPr lang="en-US" b="1" dirty="0">
              <a:solidFill>
                <a:srgbClr val="004AAD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565696" y="5557123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Sigara kullanım durumu.</a:t>
            </a:r>
            <a:endParaRPr lang="en-US" sz="1750" dirty="0"/>
          </a:p>
        </p:txBody>
      </p:sp>
      <p:pic>
        <p:nvPicPr>
          <p:cNvPr id="23" name="Picture 22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35098161-3412-7B03-91CE-8EB701BC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2428" y="7610475"/>
            <a:ext cx="1877972" cy="6191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12940"/>
            <a:ext cx="1105662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150" dirty="0">
                <a:solidFill>
                  <a:srgbClr val="1E293B"/>
                </a:solidFill>
                <a:latin typeface="Montserrat SemiBold"/>
              </a:rPr>
              <a:t>Veri Setinin Yüklenmesi </a:t>
            </a:r>
            <a:r>
              <a:rPr lang="en-US" sz="3150" dirty="0" err="1">
                <a:solidFill>
                  <a:srgbClr val="1E293B"/>
                </a:solidFill>
                <a:latin typeface="Montserrat SemiBold"/>
              </a:rPr>
              <a:t>ve</a:t>
            </a:r>
            <a:r>
              <a:rPr lang="en-US" sz="3150" dirty="0">
                <a:solidFill>
                  <a:srgbClr val="1E293B"/>
                </a:solidFill>
                <a:latin typeface="Montserrat SemiBold"/>
              </a:rPr>
              <a:t> </a:t>
            </a:r>
            <a:r>
              <a:rPr lang="en-US" sz="3150" dirty="0" err="1">
                <a:solidFill>
                  <a:srgbClr val="1E293B"/>
                </a:solidFill>
                <a:latin typeface="Montserrat SemiBold"/>
              </a:rPr>
              <a:t>Temizlenmesi</a:t>
            </a:r>
            <a:endParaRPr lang="en-US" sz="3150" dirty="0">
              <a:solidFill>
                <a:srgbClr val="1E293B"/>
              </a:solidFill>
              <a:latin typeface="Montserrat SemiBold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865953"/>
            <a:ext cx="6244709" cy="5231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99521" y="294608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BMI gibi eksik ve string </a:t>
            </a:r>
            <a:r>
              <a:rPr lang="en-US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değerler</a:t>
            </a:r>
            <a:r>
              <a:rPr lang="en-US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temizlendi</a:t>
            </a:r>
            <a:endParaRPr lang="en-US" dirty="0">
              <a:solidFill>
                <a:srgbClr val="334155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6" name="Text 3"/>
          <p:cNvSpPr/>
          <p:nvPr/>
        </p:nvSpPr>
        <p:spPr>
          <a:xfrm>
            <a:off x="7599520" y="360044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Stroke hedef </a:t>
            </a:r>
            <a:r>
              <a:rPr lang="en-US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değişkeni</a:t>
            </a:r>
            <a:r>
              <a:rPr lang="en-US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 numerik </a:t>
            </a:r>
            <a:r>
              <a:rPr lang="en-US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ve</a:t>
            </a:r>
            <a:r>
              <a:rPr lang="en-US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güvenli</a:t>
            </a:r>
            <a:r>
              <a:rPr lang="en-US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 hale </a:t>
            </a:r>
            <a:r>
              <a:rPr lang="en-US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getirildi</a:t>
            </a:r>
            <a:endParaRPr lang="en-US" dirty="0">
              <a:solidFill>
                <a:srgbClr val="334155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447699"/>
            <a:ext cx="7669530" cy="2168962"/>
          </a:xfrm>
          <a:prstGeom prst="rect">
            <a:avLst/>
          </a:prstGeom>
        </p:spPr>
      </p:pic>
      <p:pic>
        <p:nvPicPr>
          <p:cNvPr id="8" name="Picture 7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972A46E5-E28D-4AA6-AB81-A98A2AA44E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52428" y="7610475"/>
            <a:ext cx="1877972" cy="6191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651510"/>
            <a:ext cx="510706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3150" dirty="0">
                <a:solidFill>
                  <a:srgbClr val="1E293B"/>
                </a:solidFill>
                <a:latin typeface="Montserrat SemiBold"/>
              </a:rPr>
              <a:t>Veri Ön </a:t>
            </a:r>
            <a:r>
              <a:rPr lang="en-US" sz="3150" dirty="0" err="1">
                <a:solidFill>
                  <a:srgbClr val="1E293B"/>
                </a:solidFill>
                <a:latin typeface="Montserrat SemiBold"/>
              </a:rPr>
              <a:t>İşleme</a:t>
            </a:r>
            <a:r>
              <a:rPr lang="en-US" sz="3150" dirty="0">
                <a:solidFill>
                  <a:srgbClr val="1E293B"/>
                </a:solidFill>
                <a:latin typeface="Montserrat SemiBold"/>
              </a:rPr>
              <a:t> </a:t>
            </a:r>
            <a:r>
              <a:rPr lang="en-US" sz="3150" dirty="0" err="1">
                <a:solidFill>
                  <a:srgbClr val="1E293B"/>
                </a:solidFill>
                <a:latin typeface="Montserrat SemiBold"/>
              </a:rPr>
              <a:t>Adımları</a:t>
            </a:r>
            <a:endParaRPr lang="en-US" sz="3150" dirty="0">
              <a:solidFill>
                <a:srgbClr val="1E293B"/>
              </a:solidFill>
              <a:latin typeface="Montserrat SemiBold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280190" y="1776174"/>
            <a:ext cx="7556421" cy="22860"/>
          </a:xfrm>
          <a:prstGeom prst="rect">
            <a:avLst/>
          </a:prstGeom>
          <a:solidFill>
            <a:srgbClr val="373B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280190" y="1912620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b="1" dirty="0">
                <a:solidFill>
                  <a:srgbClr val="004AAD"/>
                </a:solidFill>
                <a:latin typeface="Roboto"/>
                <a:ea typeface="Roboto"/>
                <a:cs typeface="Roboto"/>
                <a:sym typeface="Arial"/>
              </a:rPr>
              <a:t>Eksik Veri </a:t>
            </a:r>
            <a:r>
              <a:rPr lang="en-US" b="1" dirty="0" err="1">
                <a:solidFill>
                  <a:srgbClr val="004AAD"/>
                </a:solidFill>
                <a:latin typeface="Roboto"/>
                <a:ea typeface="Roboto"/>
                <a:cs typeface="Roboto"/>
                <a:sym typeface="Arial"/>
              </a:rPr>
              <a:t>Yönetimi</a:t>
            </a:r>
            <a:endParaRPr lang="en-US" b="1" dirty="0">
              <a:solidFill>
                <a:srgbClr val="004AAD"/>
              </a:solidFill>
              <a:latin typeface="Roboto"/>
              <a:ea typeface="Roboto"/>
              <a:cs typeface="Roboto"/>
              <a:sym typeface="Arial"/>
            </a:endParaRPr>
          </a:p>
        </p:txBody>
      </p:sp>
      <p:sp>
        <p:nvSpPr>
          <p:cNvPr id="7" name="Text 4"/>
          <p:cNvSpPr/>
          <p:nvPr/>
        </p:nvSpPr>
        <p:spPr>
          <a:xfrm>
            <a:off x="6280190" y="2304931"/>
            <a:ext cx="755642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BMI değişkenindeki eksik değerler istatistiksel yöntemlerle dolduruldu. Bu, modelin yanlı öğrenmesini </a:t>
            </a:r>
            <a:r>
              <a:rPr lang="en-US" sz="160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engeller</a:t>
            </a: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.</a:t>
            </a:r>
          </a:p>
        </p:txBody>
      </p:sp>
      <p:sp>
        <p:nvSpPr>
          <p:cNvPr id="9" name="Shape 6"/>
          <p:cNvSpPr/>
          <p:nvPr/>
        </p:nvSpPr>
        <p:spPr>
          <a:xfrm>
            <a:off x="6280190" y="3488531"/>
            <a:ext cx="7556421" cy="22860"/>
          </a:xfrm>
          <a:prstGeom prst="rect">
            <a:avLst/>
          </a:prstGeom>
          <a:solidFill>
            <a:srgbClr val="373B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280190" y="3624977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0"/>
              </a:lnSpc>
            </a:pPr>
            <a:r>
              <a:rPr lang="en-US" b="1" dirty="0">
                <a:solidFill>
                  <a:srgbClr val="004AAD"/>
                </a:solidFill>
                <a:latin typeface="Roboto"/>
                <a:ea typeface="Roboto"/>
                <a:cs typeface="Roboto"/>
              </a:rPr>
              <a:t>One-Hot Encoding</a:t>
            </a:r>
          </a:p>
        </p:txBody>
      </p:sp>
      <p:sp>
        <p:nvSpPr>
          <p:cNvPr id="11" name="Text 8"/>
          <p:cNvSpPr/>
          <p:nvPr/>
        </p:nvSpPr>
        <p:spPr>
          <a:xfrm>
            <a:off x="6280190" y="4017288"/>
            <a:ext cx="75564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Kategorik değişkenler, ikili (0/1) sütunlara ayrılarak modele anlamlı şekilde </a:t>
            </a:r>
            <a:r>
              <a:rPr lang="en-US" sz="160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aktarıldı</a:t>
            </a: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.</a:t>
            </a:r>
          </a:p>
        </p:txBody>
      </p:sp>
      <p:sp>
        <p:nvSpPr>
          <p:cNvPr id="13" name="Shape 10"/>
          <p:cNvSpPr/>
          <p:nvPr/>
        </p:nvSpPr>
        <p:spPr>
          <a:xfrm>
            <a:off x="6280190" y="4910614"/>
            <a:ext cx="7556421" cy="22860"/>
          </a:xfrm>
          <a:prstGeom prst="rect">
            <a:avLst/>
          </a:prstGeom>
          <a:solidFill>
            <a:srgbClr val="373B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280190" y="5047059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b="1" dirty="0" err="1">
                <a:solidFill>
                  <a:srgbClr val="004AAD"/>
                </a:solidFill>
                <a:latin typeface="Roboto"/>
                <a:ea typeface="Roboto"/>
                <a:cs typeface="Roboto"/>
              </a:rPr>
              <a:t>Ölçeklendirme</a:t>
            </a:r>
            <a:endParaRPr lang="en-US" b="1" dirty="0">
              <a:solidFill>
                <a:srgbClr val="004AAD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280190" y="5439370"/>
            <a:ext cx="75564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Sayısal değişkenler ölçeklendirildi. Mesafe ve ağırlık temelli modeller için bu </a:t>
            </a:r>
            <a:r>
              <a:rPr lang="en-US" sz="160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zorunludur</a:t>
            </a: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.</a:t>
            </a:r>
          </a:p>
        </p:txBody>
      </p:sp>
      <p:sp>
        <p:nvSpPr>
          <p:cNvPr id="17" name="Shape 14"/>
          <p:cNvSpPr/>
          <p:nvPr/>
        </p:nvSpPr>
        <p:spPr>
          <a:xfrm>
            <a:off x="6280190" y="6332696"/>
            <a:ext cx="7556421" cy="22860"/>
          </a:xfrm>
          <a:prstGeom prst="rect">
            <a:avLst/>
          </a:prstGeom>
          <a:solidFill>
            <a:srgbClr val="373B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280190" y="6469142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0"/>
              </a:lnSpc>
            </a:pPr>
            <a:r>
              <a:rPr lang="en-US" b="1" dirty="0">
                <a:solidFill>
                  <a:srgbClr val="004AAD"/>
                </a:solidFill>
                <a:latin typeface="Roboto"/>
                <a:ea typeface="Roboto"/>
                <a:cs typeface="Roboto"/>
              </a:rPr>
              <a:t>Veri </a:t>
            </a:r>
            <a:r>
              <a:rPr lang="en-US" b="1" dirty="0" err="1">
                <a:solidFill>
                  <a:srgbClr val="004AAD"/>
                </a:solidFill>
                <a:latin typeface="Roboto"/>
                <a:ea typeface="Roboto"/>
                <a:cs typeface="Roboto"/>
              </a:rPr>
              <a:t>Bölme</a:t>
            </a:r>
            <a:endParaRPr lang="en-US" b="1" dirty="0">
              <a:solidFill>
                <a:srgbClr val="004AAD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280190" y="6861453"/>
            <a:ext cx="755642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lnSpc>
                <a:spcPts val="225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Modelin genellenebilirliğini değerlendirmek için veri eğitim (4088) ve test (1022) setlerine </a:t>
            </a:r>
            <a:r>
              <a:rPr lang="en-US" sz="160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ayrıldı</a:t>
            </a: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.</a:t>
            </a:r>
          </a:p>
        </p:txBody>
      </p:sp>
      <p:pic>
        <p:nvPicPr>
          <p:cNvPr id="20" name="Image 0" descr="preencoded.png">
            <a:extLst>
              <a:ext uri="{FF2B5EF4-FFF2-40B4-BE49-F238E27FC236}">
                <a16:creationId xmlns:a16="http://schemas.microsoft.com/office/drawing/2014/main" id="{D63F25FF-F202-B2C4-91A1-BD66A8C28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74" y="1570851"/>
            <a:ext cx="5645110" cy="5473422"/>
          </a:xfrm>
          <a:prstGeom prst="rect">
            <a:avLst/>
          </a:prstGeom>
        </p:spPr>
      </p:pic>
      <p:pic>
        <p:nvPicPr>
          <p:cNvPr id="21" name="Picture 20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76B52449-E4CF-2ABD-FBAF-08E96A6AC3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2428" y="7610475"/>
            <a:ext cx="1877972" cy="6191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76519"/>
            <a:ext cx="858690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150" dirty="0">
                <a:solidFill>
                  <a:srgbClr val="1E293B"/>
                </a:solidFill>
                <a:latin typeface="Montserrat SemiBold"/>
              </a:rPr>
              <a:t>Eğitim / Validation / Test </a:t>
            </a:r>
            <a:r>
              <a:rPr lang="en-US" sz="3150" dirty="0" err="1">
                <a:solidFill>
                  <a:srgbClr val="1E293B"/>
                </a:solidFill>
                <a:latin typeface="Montserrat SemiBold"/>
              </a:rPr>
              <a:t>Ayrımı</a:t>
            </a:r>
            <a:endParaRPr lang="en-US" sz="3150" dirty="0">
              <a:solidFill>
                <a:srgbClr val="1E293B"/>
              </a:solidFill>
              <a:latin typeface="Montserrat SemiBold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980611"/>
            <a:ext cx="6025039" cy="331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99521" y="407789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Veri üçe bölündü: train / validation / test</a:t>
            </a:r>
          </a:p>
        </p:txBody>
      </p:sp>
      <p:sp>
        <p:nvSpPr>
          <p:cNvPr id="5" name="Text 2"/>
          <p:cNvSpPr/>
          <p:nvPr/>
        </p:nvSpPr>
        <p:spPr>
          <a:xfrm>
            <a:off x="7599521" y="452008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Validation set threshold </a:t>
            </a:r>
            <a:r>
              <a:rPr lang="en-US" sz="160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seçimi</a:t>
            </a: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60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için</a:t>
            </a:r>
            <a:endParaRPr lang="en-US" sz="1600" dirty="0">
              <a:solidFill>
                <a:srgbClr val="334155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6" name="Text 3"/>
          <p:cNvSpPr/>
          <p:nvPr/>
        </p:nvSpPr>
        <p:spPr>
          <a:xfrm>
            <a:off x="7599521" y="496228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Stratify ile stroke </a:t>
            </a:r>
            <a:r>
              <a:rPr lang="en-US" sz="160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oranı</a:t>
            </a: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60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korundu</a:t>
            </a:r>
            <a:endParaRPr lang="en-US" sz="1600" dirty="0">
              <a:solidFill>
                <a:srgbClr val="334155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7" name="Picture 6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33AFDC6E-6905-AC9B-7C56-9771714C8D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52428" y="7610475"/>
            <a:ext cx="1877972" cy="61912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9621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150" dirty="0">
                <a:solidFill>
                  <a:srgbClr val="1E293B"/>
                </a:solidFill>
                <a:latin typeface="Montserrat SemiBold"/>
              </a:rPr>
              <a:t>Feature Engineering</a:t>
            </a: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822847"/>
            <a:ext cx="5579388" cy="54229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199" y="3493472"/>
            <a:ext cx="562570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Lineer olmayan ilişkiler </a:t>
            </a:r>
            <a:r>
              <a:rPr lang="en-US" sz="160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yakalanmak</a:t>
            </a: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60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istendi</a:t>
            </a:r>
            <a:endParaRPr lang="en-US" sz="1600" dirty="0">
              <a:solidFill>
                <a:srgbClr val="334155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5" name="Text 2"/>
          <p:cNvSpPr/>
          <p:nvPr/>
        </p:nvSpPr>
        <p:spPr>
          <a:xfrm>
            <a:off x="7315200" y="3840420"/>
            <a:ext cx="562570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25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Klinik olarak anlamlı </a:t>
            </a:r>
            <a:r>
              <a:rPr lang="en-US" sz="160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etkileşimler</a:t>
            </a: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60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üretildi</a:t>
            </a:r>
            <a:endParaRPr lang="en-US" sz="1600" dirty="0">
              <a:solidFill>
                <a:srgbClr val="334155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6" name="Text 3"/>
          <p:cNvSpPr/>
          <p:nvPr/>
        </p:nvSpPr>
        <p:spPr>
          <a:xfrm>
            <a:off x="7315200" y="4244043"/>
            <a:ext cx="562570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25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Feature engineering </a:t>
            </a:r>
            <a:r>
              <a:rPr lang="en-US" sz="160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kontrollü</a:t>
            </a: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, </a:t>
            </a:r>
            <a:r>
              <a:rPr lang="en-US" sz="160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otomatik</a:t>
            </a: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60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değil</a:t>
            </a:r>
            <a:endParaRPr lang="en-US" sz="1600" dirty="0">
              <a:solidFill>
                <a:srgbClr val="334155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7" name="Text 4"/>
          <p:cNvSpPr/>
          <p:nvPr/>
        </p:nvSpPr>
        <p:spPr>
          <a:xfrm>
            <a:off x="7315200" y="4792335"/>
            <a:ext cx="562570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b="1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Amaç: </a:t>
            </a: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Logistic </a:t>
            </a:r>
            <a:r>
              <a:rPr lang="en-US" sz="160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Regression’ın</a:t>
            </a: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60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ifade</a:t>
            </a: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60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gücünü</a:t>
            </a: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60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artırmak</a:t>
            </a:r>
            <a:endParaRPr lang="en-US" sz="1600" dirty="0">
              <a:solidFill>
                <a:srgbClr val="334155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10" name="Picture 9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5ECAB940-2150-BA07-E887-620AC008F3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2428" y="7610475"/>
            <a:ext cx="1877972" cy="6191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2476"/>
            <a:ext cx="482000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3150" dirty="0">
                <a:solidFill>
                  <a:srgbClr val="1E293B"/>
                </a:solidFill>
                <a:latin typeface="Montserrat SemiBold"/>
              </a:rPr>
              <a:t>Threshold </a:t>
            </a:r>
            <a:r>
              <a:rPr lang="en-US" sz="3150" dirty="0" err="1">
                <a:solidFill>
                  <a:srgbClr val="1E293B"/>
                </a:solidFill>
                <a:latin typeface="Montserrat SemiBold"/>
              </a:rPr>
              <a:t>Seçimi</a:t>
            </a:r>
            <a:endParaRPr lang="en-US" sz="3150" dirty="0">
              <a:solidFill>
                <a:srgbClr val="1E293B"/>
              </a:solidFill>
              <a:latin typeface="Montserrat SemiBold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870948"/>
            <a:ext cx="4603075" cy="2265283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353044"/>
            <a:ext cx="5343287" cy="289726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57968" y="3895844"/>
            <a:ext cx="6286262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Recall ≥ %80 </a:t>
            </a:r>
            <a:r>
              <a:rPr lang="en-US" sz="160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hedeflendi</a:t>
            </a:r>
            <a:endParaRPr lang="en-US" sz="1600" dirty="0">
              <a:solidFill>
                <a:srgbClr val="334155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6" name="Text 2"/>
          <p:cNvSpPr/>
          <p:nvPr/>
        </p:nvSpPr>
        <p:spPr>
          <a:xfrm>
            <a:off x="7557968" y="4271605"/>
            <a:ext cx="6286262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Yanlış negatiflerin </a:t>
            </a:r>
            <a:r>
              <a:rPr lang="en-US" sz="160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maliyeti</a:t>
            </a: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60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önceliklendirildi</a:t>
            </a:r>
            <a:endParaRPr lang="en-US" sz="1600" dirty="0">
              <a:solidFill>
                <a:srgbClr val="334155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7" name="Text 3"/>
          <p:cNvSpPr/>
          <p:nvPr/>
        </p:nvSpPr>
        <p:spPr>
          <a:xfrm>
            <a:off x="7557968" y="4647367"/>
            <a:ext cx="6286262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Seçilen threshold: 0.5425</a:t>
            </a:r>
          </a:p>
        </p:txBody>
      </p:sp>
      <p:sp>
        <p:nvSpPr>
          <p:cNvPr id="8" name="Text 4"/>
          <p:cNvSpPr/>
          <p:nvPr/>
        </p:nvSpPr>
        <p:spPr>
          <a:xfrm>
            <a:off x="7557968" y="5023128"/>
            <a:ext cx="6286262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Amaç: Klinik olarak güvenli </a:t>
            </a:r>
            <a:r>
              <a:rPr lang="en-US" sz="160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karar</a:t>
            </a: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60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mekanizması</a:t>
            </a:r>
            <a:endParaRPr lang="en-US" sz="1600" dirty="0">
              <a:solidFill>
                <a:srgbClr val="334155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9" name="Picture 8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A1EE1E99-8DBA-8DFF-DDA9-8594DDC206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52428" y="7610475"/>
            <a:ext cx="1877972" cy="6191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11724"/>
            <a:ext cx="924234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150" dirty="0">
                <a:solidFill>
                  <a:srgbClr val="1E293B"/>
                </a:solidFill>
                <a:latin typeface="Montserrat SemiBold"/>
              </a:rPr>
              <a:t>Model Seçimi: Logistic Regression</a:t>
            </a: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715816"/>
            <a:ext cx="6244709" cy="35142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99521" y="2687479"/>
            <a:ext cx="37601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b="1" dirty="0">
                <a:solidFill>
                  <a:srgbClr val="004AAD"/>
                </a:solidFill>
                <a:latin typeface="Roboto"/>
                <a:ea typeface="Roboto"/>
                <a:cs typeface="Roboto"/>
              </a:rPr>
              <a:t>Neden Logistic Regression?</a:t>
            </a:r>
          </a:p>
        </p:txBody>
      </p:sp>
      <p:sp>
        <p:nvSpPr>
          <p:cNvPr id="5" name="Text 2"/>
          <p:cNvSpPr/>
          <p:nvPr/>
        </p:nvSpPr>
        <p:spPr>
          <a:xfrm>
            <a:off x="7599521" y="326862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600" b="1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Yorumlanabilirlik</a:t>
            </a:r>
            <a:r>
              <a:rPr lang="en-US" sz="1600" b="1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:</a:t>
            </a: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 Tıbbi uygulamalarda neden-sonuç ilişkileri açıklanabilir </a:t>
            </a:r>
            <a:r>
              <a:rPr lang="en-US" sz="160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olmalı</a:t>
            </a: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.</a:t>
            </a:r>
          </a:p>
        </p:txBody>
      </p:sp>
      <p:sp>
        <p:nvSpPr>
          <p:cNvPr id="6" name="Text 3"/>
          <p:cNvSpPr/>
          <p:nvPr/>
        </p:nvSpPr>
        <p:spPr>
          <a:xfrm>
            <a:off x="7599521" y="407372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Kararlılık:</a:t>
            </a: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</a:t>
            </a: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Küçük veri değişimlerinde aşırı dalgalanma </a:t>
            </a:r>
            <a:r>
              <a:rPr lang="en-US" sz="160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göstermez</a:t>
            </a: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.</a:t>
            </a:r>
          </a:p>
        </p:txBody>
      </p:sp>
      <p:sp>
        <p:nvSpPr>
          <p:cNvPr id="7" name="Text 4"/>
          <p:cNvSpPr/>
          <p:nvPr/>
        </p:nvSpPr>
        <p:spPr>
          <a:xfrm>
            <a:off x="7599521" y="463929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Olasılık Çıktısı:</a:t>
            </a: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</a:t>
            </a: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Her birey için "stroke olasılığı" </a:t>
            </a:r>
            <a:r>
              <a:rPr lang="en-US" sz="160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üretir</a:t>
            </a: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.</a:t>
            </a:r>
          </a:p>
        </p:txBody>
      </p:sp>
      <p:sp>
        <p:nvSpPr>
          <p:cNvPr id="8" name="Text 5"/>
          <p:cNvSpPr/>
          <p:nvPr/>
        </p:nvSpPr>
        <p:spPr>
          <a:xfrm>
            <a:off x="7599521" y="523470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Threshold </a:t>
            </a:r>
            <a:r>
              <a:rPr lang="en-US" sz="1600" b="1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Kontrolü</a:t>
            </a:r>
            <a:r>
              <a:rPr lang="en-US" sz="1600" b="1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: </a:t>
            </a: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Karar eşiği </a:t>
            </a:r>
            <a:r>
              <a:rPr lang="en-US" sz="160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ayarlanabilir</a:t>
            </a: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.</a:t>
            </a:r>
          </a:p>
        </p:txBody>
      </p:sp>
      <p:sp>
        <p:nvSpPr>
          <p:cNvPr id="9" name="Text 6"/>
          <p:cNvSpPr/>
          <p:nvPr/>
        </p:nvSpPr>
        <p:spPr>
          <a:xfrm>
            <a:off x="7599521" y="5830107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Sağlık alanında kontrol edilebilirlik, ham doğruluktan daha </a:t>
            </a:r>
            <a:r>
              <a:rPr lang="en-US" sz="160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değerlidir</a:t>
            </a: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.</a:t>
            </a:r>
          </a:p>
        </p:txBody>
      </p:sp>
      <p:pic>
        <p:nvPicPr>
          <p:cNvPr id="10" name="Picture 9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DE9E06FE-4FCE-9B9B-B207-05A023ED73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2428" y="7610475"/>
            <a:ext cx="1877972" cy="6191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32002"/>
            <a:ext cx="644830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3150" dirty="0">
                <a:solidFill>
                  <a:srgbClr val="1E293B"/>
                </a:solidFill>
                <a:latin typeface="Montserrat SemiBold"/>
              </a:rPr>
              <a:t>Model Tanımı </a:t>
            </a:r>
            <a:r>
              <a:rPr lang="en-US" sz="3150" dirty="0" err="1">
                <a:solidFill>
                  <a:srgbClr val="1E293B"/>
                </a:solidFill>
                <a:latin typeface="Montserrat SemiBold"/>
              </a:rPr>
              <a:t>ve</a:t>
            </a:r>
            <a:r>
              <a:rPr lang="en-US" sz="3150" dirty="0">
                <a:solidFill>
                  <a:srgbClr val="1E293B"/>
                </a:solidFill>
                <a:latin typeface="Montserrat SemiBold"/>
              </a:rPr>
              <a:t> </a:t>
            </a:r>
            <a:r>
              <a:rPr lang="en-US" sz="3150" dirty="0" err="1">
                <a:solidFill>
                  <a:srgbClr val="1E293B"/>
                </a:solidFill>
                <a:latin typeface="Montserrat SemiBold"/>
              </a:rPr>
              <a:t>Eğitimi</a:t>
            </a:r>
            <a:endParaRPr lang="en-US" sz="3150" dirty="0">
              <a:solidFill>
                <a:srgbClr val="1E293B"/>
              </a:solidFill>
              <a:latin typeface="Montserrat SemiBold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036094"/>
            <a:ext cx="6244709" cy="32063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99521" y="385691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Logistic Regression </a:t>
            </a:r>
            <a:r>
              <a:rPr lang="en-US" sz="160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seçildi</a:t>
            </a:r>
            <a:endParaRPr lang="en-US" sz="1600" dirty="0">
              <a:solidFill>
                <a:srgbClr val="334155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5" name="Text 2"/>
          <p:cNvSpPr/>
          <p:nvPr/>
        </p:nvSpPr>
        <p:spPr>
          <a:xfrm>
            <a:off x="7599521" y="429910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class_weight ile dengesiz veri </a:t>
            </a:r>
            <a:r>
              <a:rPr lang="en-US" sz="160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ele</a:t>
            </a: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60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alındı</a:t>
            </a:r>
            <a:endParaRPr lang="en-US" sz="1600" dirty="0">
              <a:solidFill>
                <a:srgbClr val="334155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6" name="Text 3"/>
          <p:cNvSpPr/>
          <p:nvPr/>
        </p:nvSpPr>
        <p:spPr>
          <a:xfrm>
            <a:off x="7599521" y="474130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Pipeline ile tüm süreç </a:t>
            </a:r>
            <a:r>
              <a:rPr lang="en-US" sz="160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tek</a:t>
            </a: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60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yapı</a:t>
            </a:r>
            <a:endParaRPr lang="en-US" sz="1600" dirty="0">
              <a:solidFill>
                <a:srgbClr val="334155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7" name="Text 4"/>
          <p:cNvSpPr/>
          <p:nvPr/>
        </p:nvSpPr>
        <p:spPr>
          <a:xfrm>
            <a:off x="7599521" y="518350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Amaç: </a:t>
            </a: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Yorumlanabilir ve </a:t>
            </a:r>
            <a:r>
              <a:rPr lang="en-US" sz="160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dengeli</a:t>
            </a: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 model</a:t>
            </a:r>
          </a:p>
        </p:txBody>
      </p:sp>
      <p:pic>
        <p:nvPicPr>
          <p:cNvPr id="8" name="Picture 7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D801A8C5-BB28-8294-A6C3-F847B81591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2428" y="7610475"/>
            <a:ext cx="1877972" cy="6191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9381"/>
            <a:ext cx="1012567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150" dirty="0">
                <a:solidFill>
                  <a:srgbClr val="1E293B"/>
                </a:solidFill>
                <a:latin typeface="Montserrat SemiBold"/>
              </a:rPr>
              <a:t>Model Performansı </a:t>
            </a:r>
            <a:r>
              <a:rPr lang="en-US" sz="3150" dirty="0" err="1">
                <a:solidFill>
                  <a:srgbClr val="1E293B"/>
                </a:solidFill>
                <a:latin typeface="Montserrat SemiBold"/>
              </a:rPr>
              <a:t>ve</a:t>
            </a:r>
            <a:r>
              <a:rPr lang="en-US" sz="3150" dirty="0">
                <a:solidFill>
                  <a:srgbClr val="1E293B"/>
                </a:solidFill>
                <a:latin typeface="Montserrat SemiBold"/>
              </a:rPr>
              <a:t> </a:t>
            </a:r>
            <a:r>
              <a:rPr lang="en-US" sz="3150" dirty="0" err="1">
                <a:solidFill>
                  <a:srgbClr val="1E293B"/>
                </a:solidFill>
                <a:latin typeface="Montserrat SemiBold"/>
              </a:rPr>
              <a:t>Değerlendirme</a:t>
            </a:r>
            <a:endParaRPr lang="en-US" sz="3150" dirty="0">
              <a:solidFill>
                <a:srgbClr val="1E293B"/>
              </a:solidFill>
              <a:latin typeface="Montserrat Semi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1921788"/>
            <a:ext cx="13042821" cy="4567476"/>
          </a:xfrm>
          <a:prstGeom prst="roundRect">
            <a:avLst>
              <a:gd name="adj" fmla="val 208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1410" y="1929408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28343" y="2073116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Accuracy</a:t>
            </a:r>
          </a:p>
        </p:txBody>
      </p:sp>
      <p:sp>
        <p:nvSpPr>
          <p:cNvPr id="6" name="Text 4"/>
          <p:cNvSpPr/>
          <p:nvPr/>
        </p:nvSpPr>
        <p:spPr>
          <a:xfrm>
            <a:off x="4940379" y="2073116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0.7808</a:t>
            </a:r>
          </a:p>
        </p:txBody>
      </p:sp>
      <p:sp>
        <p:nvSpPr>
          <p:cNvPr id="7" name="Text 5"/>
          <p:cNvSpPr/>
          <p:nvPr/>
        </p:nvSpPr>
        <p:spPr>
          <a:xfrm>
            <a:off x="9499997" y="2073116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ts val="285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Genel </a:t>
            </a:r>
            <a:r>
              <a:rPr lang="en-US" sz="160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doğruluk</a:t>
            </a:r>
            <a:endParaRPr lang="en-US" sz="1600" dirty="0">
              <a:solidFill>
                <a:srgbClr val="334155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01410" y="2579727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28343" y="2723436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Balanced Accuracy</a:t>
            </a:r>
          </a:p>
        </p:txBody>
      </p:sp>
      <p:sp>
        <p:nvSpPr>
          <p:cNvPr id="10" name="Text 8"/>
          <p:cNvSpPr/>
          <p:nvPr/>
        </p:nvSpPr>
        <p:spPr>
          <a:xfrm>
            <a:off x="4940379" y="2723436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0.7899</a:t>
            </a:r>
          </a:p>
        </p:txBody>
      </p:sp>
      <p:sp>
        <p:nvSpPr>
          <p:cNvPr id="11" name="Text 9"/>
          <p:cNvSpPr/>
          <p:nvPr/>
        </p:nvSpPr>
        <p:spPr>
          <a:xfrm>
            <a:off x="9499997" y="2723436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Dengesiz veri için </a:t>
            </a:r>
            <a:r>
              <a:rPr lang="en-US" sz="160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daha</a:t>
            </a: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60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anlamlı</a:t>
            </a:r>
            <a:endParaRPr lang="en-US" sz="1600" dirty="0">
              <a:solidFill>
                <a:srgbClr val="334155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01410" y="3230047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28343" y="3373755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Precision</a:t>
            </a:r>
          </a:p>
        </p:txBody>
      </p:sp>
      <p:sp>
        <p:nvSpPr>
          <p:cNvPr id="14" name="Text 12"/>
          <p:cNvSpPr/>
          <p:nvPr/>
        </p:nvSpPr>
        <p:spPr>
          <a:xfrm>
            <a:off x="4940379" y="3373755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0.1575</a:t>
            </a:r>
          </a:p>
        </p:txBody>
      </p:sp>
      <p:sp>
        <p:nvSpPr>
          <p:cNvPr id="15" name="Text 13"/>
          <p:cNvSpPr/>
          <p:nvPr/>
        </p:nvSpPr>
        <p:spPr>
          <a:xfrm>
            <a:off x="9499997" y="3373755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ts val="285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Pozitif </a:t>
            </a:r>
            <a:r>
              <a:rPr lang="en-US" sz="160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tahminlerin</a:t>
            </a: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60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doğruluğu</a:t>
            </a:r>
            <a:endParaRPr lang="en-US" sz="1600" dirty="0">
              <a:solidFill>
                <a:srgbClr val="334155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01410" y="3880366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28343" y="4024074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ts val="285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Recall</a:t>
            </a:r>
          </a:p>
        </p:txBody>
      </p:sp>
      <p:sp>
        <p:nvSpPr>
          <p:cNvPr id="18" name="Text 16"/>
          <p:cNvSpPr/>
          <p:nvPr/>
        </p:nvSpPr>
        <p:spPr>
          <a:xfrm>
            <a:off x="4940379" y="4024074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ts val="285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0.8000</a:t>
            </a:r>
          </a:p>
        </p:txBody>
      </p:sp>
      <p:sp>
        <p:nvSpPr>
          <p:cNvPr id="19" name="Text 17"/>
          <p:cNvSpPr/>
          <p:nvPr/>
        </p:nvSpPr>
        <p:spPr>
          <a:xfrm>
            <a:off x="9499997" y="4024074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Stroke </a:t>
            </a:r>
            <a:r>
              <a:rPr lang="en-US" sz="160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yakalama</a:t>
            </a: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60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oranı</a:t>
            </a:r>
            <a:endParaRPr lang="en-US" sz="1600" dirty="0">
              <a:solidFill>
                <a:srgbClr val="334155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01410" y="4530685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28343" y="4674394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F1-score</a:t>
            </a:r>
          </a:p>
        </p:txBody>
      </p:sp>
      <p:sp>
        <p:nvSpPr>
          <p:cNvPr id="22" name="Text 20"/>
          <p:cNvSpPr/>
          <p:nvPr/>
        </p:nvSpPr>
        <p:spPr>
          <a:xfrm>
            <a:off x="4940379" y="4674394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0.2632</a:t>
            </a:r>
          </a:p>
        </p:txBody>
      </p:sp>
      <p:sp>
        <p:nvSpPr>
          <p:cNvPr id="23" name="Text 21"/>
          <p:cNvSpPr/>
          <p:nvPr/>
        </p:nvSpPr>
        <p:spPr>
          <a:xfrm>
            <a:off x="9499997" y="4674394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ts val="285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Precision–Recall </a:t>
            </a:r>
            <a:r>
              <a:rPr lang="en-US" sz="160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dengesi</a:t>
            </a:r>
            <a:endParaRPr lang="en-US" sz="1600" dirty="0">
              <a:solidFill>
                <a:srgbClr val="334155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01410" y="5181005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28343" y="5324713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ts val="285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ROC-AUC</a:t>
            </a:r>
          </a:p>
        </p:txBody>
      </p:sp>
      <p:sp>
        <p:nvSpPr>
          <p:cNvPr id="26" name="Text 24"/>
          <p:cNvSpPr/>
          <p:nvPr/>
        </p:nvSpPr>
        <p:spPr>
          <a:xfrm>
            <a:off x="4940379" y="5324713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ts val="285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0.8427</a:t>
            </a:r>
          </a:p>
        </p:txBody>
      </p:sp>
      <p:sp>
        <p:nvSpPr>
          <p:cNvPr id="27" name="Text 25"/>
          <p:cNvSpPr/>
          <p:nvPr/>
        </p:nvSpPr>
        <p:spPr>
          <a:xfrm>
            <a:off x="9499997" y="5324713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Sınıflar arası </a:t>
            </a:r>
            <a:r>
              <a:rPr lang="en-US" sz="160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ayırt</a:t>
            </a: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60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edilebilirlik</a:t>
            </a:r>
            <a:endParaRPr lang="en-US" sz="1600" dirty="0">
              <a:solidFill>
                <a:srgbClr val="334155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01410" y="5831324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28343" y="5975033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PR-AUC</a:t>
            </a:r>
          </a:p>
        </p:txBody>
      </p:sp>
      <p:sp>
        <p:nvSpPr>
          <p:cNvPr id="30" name="Text 28"/>
          <p:cNvSpPr/>
          <p:nvPr/>
        </p:nvSpPr>
        <p:spPr>
          <a:xfrm>
            <a:off x="4940379" y="5975033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0.2607</a:t>
            </a:r>
          </a:p>
        </p:txBody>
      </p:sp>
      <p:sp>
        <p:nvSpPr>
          <p:cNvPr id="31" name="Text 29"/>
          <p:cNvSpPr/>
          <p:nvPr/>
        </p:nvSpPr>
        <p:spPr>
          <a:xfrm>
            <a:off x="9499997" y="5975033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ts val="285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Dengesiz veri için </a:t>
            </a:r>
            <a:r>
              <a:rPr lang="en-US" sz="160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kritik</a:t>
            </a: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60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metrik</a:t>
            </a:r>
            <a:endParaRPr lang="en-US" sz="1600" dirty="0">
              <a:solidFill>
                <a:srgbClr val="334155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93790" y="674441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lnSpc>
                <a:spcPts val="285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Düşük precision bilinçli bir tercihtir. Yüksek recall, klinik hedefle uyumludur. ROC-AUC'nin yüksek olması, modelin ayırt edici gücünü </a:t>
            </a:r>
            <a:r>
              <a:rPr lang="en-US" sz="160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gösterir</a:t>
            </a: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.</a:t>
            </a:r>
          </a:p>
        </p:txBody>
      </p:sp>
      <p:pic>
        <p:nvPicPr>
          <p:cNvPr id="34" name="Picture 33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FCFE1CA1-9B68-02A6-EC33-F5B9574D2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2428" y="7610475"/>
            <a:ext cx="1877972" cy="6191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20090"/>
            <a:ext cx="71694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ts val="5550"/>
              </a:lnSpc>
              <a:buNone/>
            </a:pPr>
            <a:r>
              <a:rPr lang="en-US" sz="3150" dirty="0" err="1">
                <a:solidFill>
                  <a:srgbClr val="1E293B"/>
                </a:solidFill>
                <a:latin typeface="Montserrat SemiBold"/>
              </a:rPr>
              <a:t>Sonuç</a:t>
            </a:r>
            <a:endParaRPr lang="en-US" sz="3150" dirty="0">
              <a:solidFill>
                <a:srgbClr val="1E293B"/>
              </a:solidFill>
              <a:latin typeface="Montserrat SemiBold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93790" y="2477810"/>
            <a:ext cx="3664744" cy="2410897"/>
          </a:xfrm>
          <a:prstGeom prst="roundRect">
            <a:avLst>
              <a:gd name="adj" fmla="val 22580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028224" y="2712244"/>
            <a:ext cx="292500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b="1" dirty="0" err="1">
                <a:solidFill>
                  <a:srgbClr val="004AAD"/>
                </a:solidFill>
                <a:latin typeface="Roboto"/>
                <a:ea typeface="Roboto"/>
                <a:cs typeface="Roboto"/>
              </a:rPr>
              <a:t>Yorumlanabilir</a:t>
            </a:r>
            <a:r>
              <a:rPr lang="en-US" b="1" dirty="0">
                <a:solidFill>
                  <a:srgbClr val="004AAD"/>
                </a:solidFill>
                <a:latin typeface="Roboto"/>
                <a:ea typeface="Roboto"/>
                <a:cs typeface="Roboto"/>
              </a:rPr>
              <a:t> Model</a:t>
            </a:r>
          </a:p>
        </p:txBody>
      </p:sp>
      <p:sp>
        <p:nvSpPr>
          <p:cNvPr id="6" name="Text 3"/>
          <p:cNvSpPr/>
          <p:nvPr/>
        </p:nvSpPr>
        <p:spPr>
          <a:xfrm>
            <a:off x="1028224" y="3202662"/>
            <a:ext cx="319587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Dengesiz veri setinde inme riskini tahmin eden yorumlanabilir bir model </a:t>
            </a:r>
            <a:r>
              <a:rPr lang="en-US" sz="160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geliştirildi</a:t>
            </a: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.</a:t>
            </a:r>
          </a:p>
        </p:txBody>
      </p:sp>
      <p:sp>
        <p:nvSpPr>
          <p:cNvPr id="7" name="Shape 4"/>
          <p:cNvSpPr/>
          <p:nvPr/>
        </p:nvSpPr>
        <p:spPr>
          <a:xfrm>
            <a:off x="4685348" y="2477810"/>
            <a:ext cx="3664863" cy="2410897"/>
          </a:xfrm>
          <a:prstGeom prst="roundRect">
            <a:avLst>
              <a:gd name="adj" fmla="val 22580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919782" y="2712244"/>
            <a:ext cx="314777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b="1" dirty="0">
                <a:solidFill>
                  <a:srgbClr val="004AAD"/>
                </a:solidFill>
                <a:latin typeface="Roboto"/>
                <a:ea typeface="Roboto"/>
                <a:cs typeface="Roboto"/>
              </a:rPr>
              <a:t>Recall </a:t>
            </a:r>
            <a:r>
              <a:rPr lang="en-US" b="1" dirty="0" err="1">
                <a:solidFill>
                  <a:srgbClr val="004AAD"/>
                </a:solidFill>
                <a:latin typeface="Roboto"/>
                <a:ea typeface="Roboto"/>
                <a:cs typeface="Roboto"/>
              </a:rPr>
              <a:t>Odaklı</a:t>
            </a:r>
            <a:r>
              <a:rPr lang="en-US" b="1" dirty="0">
                <a:solidFill>
                  <a:srgbClr val="004AAD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004AAD"/>
                </a:solidFill>
                <a:latin typeface="Roboto"/>
                <a:ea typeface="Roboto"/>
                <a:cs typeface="Roboto"/>
              </a:rPr>
              <a:t>Yaklaşım</a:t>
            </a:r>
            <a:endParaRPr lang="en-US" b="1" dirty="0">
              <a:solidFill>
                <a:srgbClr val="004AAD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9" name="Text 6"/>
          <p:cNvSpPr/>
          <p:nvPr/>
        </p:nvSpPr>
        <p:spPr>
          <a:xfrm>
            <a:off x="4919782" y="3202662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Model performansı, recall odaklı optimize edilmiş karar eşiği ile </a:t>
            </a:r>
            <a:r>
              <a:rPr lang="en-US" sz="160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değerlendirildi</a:t>
            </a:r>
            <a:r>
              <a:rPr lang="en-US" sz="160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2"/>
          <p:cNvSpPr/>
          <p:nvPr/>
        </p:nvSpPr>
        <p:spPr>
          <a:xfrm>
            <a:off x="914400" y="2701051"/>
            <a:ext cx="12801600" cy="941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 sz="21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914400" y="3642776"/>
            <a:ext cx="12801600" cy="941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 sz="21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914400" y="4584500"/>
            <a:ext cx="12801600" cy="1179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 sz="21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 txBox="1"/>
          <p:nvPr/>
        </p:nvSpPr>
        <p:spPr>
          <a:xfrm>
            <a:off x="1143001" y="685800"/>
            <a:ext cx="13201650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rgbClr val="000000"/>
              </a:buClr>
              <a:buSzPts val="3150"/>
            </a:pPr>
            <a:r>
              <a:rPr lang="en-US" sz="3780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KAYNAKÇA</a:t>
            </a:r>
            <a:endParaRPr sz="168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914400" y="685800"/>
            <a:ext cx="68580" cy="594360"/>
          </a:xfrm>
          <a:prstGeom prst="rect">
            <a:avLst/>
          </a:prstGeom>
          <a:solidFill>
            <a:srgbClr val="E30A17"/>
          </a:solidFill>
          <a:ln>
            <a:noFill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 sz="21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 txBox="1"/>
          <p:nvPr/>
        </p:nvSpPr>
        <p:spPr>
          <a:xfrm>
            <a:off x="759586" y="3171913"/>
            <a:ext cx="13111229" cy="2520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spAutoFit/>
          </a:bodyPr>
          <a:lstStyle/>
          <a:p>
            <a:pPr marL="411480" indent="-411480">
              <a:lnSpc>
                <a:spcPct val="150000"/>
              </a:lnSpc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-US" sz="1440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https://www.kaggle.com/datasets/fedesoriano/stroke-prediction-dataset</a:t>
            </a:r>
            <a:endParaRPr lang="tr-TR" sz="1440" dirty="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11480" indent="-411480">
              <a:lnSpc>
                <a:spcPct val="150000"/>
              </a:lnSpc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-US" sz="144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Pedregosa, F., </a:t>
            </a:r>
            <a:r>
              <a:rPr lang="en-US" sz="144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Varoquaux</a:t>
            </a:r>
            <a:r>
              <a:rPr lang="en-US" sz="144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, G., </a:t>
            </a:r>
            <a:r>
              <a:rPr lang="en-US" sz="144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Gramfort</a:t>
            </a:r>
            <a:r>
              <a:rPr lang="en-US" sz="144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, A., Michel, V., Thirion, B., Grisel, O., ... &amp; Duchesnay, E. (2011). Scikit-learn: Machine Learning in Python. Journal of Machine Learning Research, 12, 2825-2830.</a:t>
            </a:r>
            <a:endParaRPr lang="tr-TR" sz="1440" dirty="0">
              <a:solidFill>
                <a:srgbClr val="334155"/>
              </a:solidFill>
              <a:latin typeface="Roboto"/>
              <a:ea typeface="Roboto"/>
              <a:cs typeface="Roboto"/>
            </a:endParaRPr>
          </a:p>
          <a:p>
            <a:pPr marL="411480" indent="-411480">
              <a:lnSpc>
                <a:spcPct val="150000"/>
              </a:lnSpc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-US" sz="144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He, H., &amp; Garcia, E. A. (2009). Learning from Imbalanced Data. IEEE Transactions on Knowledge and Data Engineering, 21(9), 1263-1284.</a:t>
            </a:r>
            <a:endParaRPr lang="tr-TR" sz="1440" dirty="0">
              <a:solidFill>
                <a:srgbClr val="334155"/>
              </a:solidFill>
              <a:latin typeface="Roboto"/>
              <a:ea typeface="Roboto"/>
              <a:cs typeface="Roboto"/>
            </a:endParaRPr>
          </a:p>
          <a:p>
            <a:pPr marL="411480" indent="-411480">
              <a:lnSpc>
                <a:spcPct val="150000"/>
              </a:lnSpc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-US" sz="144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Chawla, N. V. (2009). Data Mining for Imbalanced Datasets: An Overview. In Data Mining and Knowledge Discovery Handbook (pp. 875-886). Springer, Boston, MA.</a:t>
            </a:r>
            <a:endParaRPr lang="tr-TR" sz="1440" dirty="0">
              <a:solidFill>
                <a:srgbClr val="334155"/>
              </a:solidFill>
              <a:latin typeface="Roboto"/>
              <a:ea typeface="Roboto"/>
              <a:cs typeface="Roboto"/>
            </a:endParaRPr>
          </a:p>
          <a:p>
            <a:pPr marL="411480" indent="-411480">
              <a:lnSpc>
                <a:spcPct val="150000"/>
              </a:lnSpc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-US" sz="144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Hosmer Jr, D. W., </a:t>
            </a:r>
            <a:r>
              <a:rPr lang="en-US" sz="1440" dirty="0" err="1">
                <a:solidFill>
                  <a:srgbClr val="334155"/>
                </a:solidFill>
                <a:latin typeface="Roboto"/>
                <a:ea typeface="Roboto"/>
                <a:cs typeface="Roboto"/>
              </a:rPr>
              <a:t>Lemeshow</a:t>
            </a:r>
            <a:r>
              <a:rPr lang="en-US" sz="1440" dirty="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, S., &amp; Sturdivant, R. X. (2013). Applied Logistic Regression. John Wiley &amp; Sons.</a:t>
            </a:r>
            <a:endParaRPr sz="1440" dirty="0">
              <a:solidFill>
                <a:srgbClr val="334155"/>
              </a:solidFill>
              <a:latin typeface="Roboto"/>
              <a:ea typeface="Roboto"/>
              <a:cs typeface="Roboto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4400" y="4566105"/>
            <a:ext cx="12801600" cy="225171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3"/>
          <p:cNvSpPr txBox="1"/>
          <p:nvPr/>
        </p:nvSpPr>
        <p:spPr>
          <a:xfrm>
            <a:off x="594360" y="1457325"/>
            <a:ext cx="13441680" cy="930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00"/>
              </a:lnSpc>
              <a:buClr>
                <a:srgbClr val="000000"/>
              </a:buClr>
              <a:buSzPts val="4200"/>
            </a:pPr>
            <a:r>
              <a:rPr lang="en-US" sz="5040" b="1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r>
              <a:rPr lang="tr-TR" sz="5040" b="1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İZİ</a:t>
            </a:r>
            <a:r>
              <a:rPr lang="en-US" sz="5040" b="1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DİNLEDİĞİNİZ İÇİN TEŞEKKÜRLER</a:t>
            </a:r>
            <a:endParaRPr sz="168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3"/>
          <p:cNvSpPr txBox="1"/>
          <p:nvPr/>
        </p:nvSpPr>
        <p:spPr>
          <a:xfrm>
            <a:off x="914400" y="3002518"/>
            <a:ext cx="12801600" cy="709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9952"/>
              </a:lnSpc>
              <a:buClr>
                <a:srgbClr val="000000"/>
              </a:buClr>
              <a:buSzPts val="2400"/>
            </a:pPr>
            <a:r>
              <a:rPr lang="en-US" sz="288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Sorularınız?</a:t>
            </a:r>
            <a:endParaRPr sz="192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3"/>
          <p:cNvSpPr txBox="1"/>
          <p:nvPr/>
        </p:nvSpPr>
        <p:spPr>
          <a:xfrm>
            <a:off x="1086421" y="4964578"/>
            <a:ext cx="12457556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buClr>
                <a:srgbClr val="000000"/>
              </a:buClr>
              <a:buSzPts val="2800"/>
            </a:pPr>
            <a:r>
              <a:rPr lang="en-US" sz="3360" b="1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Buğra TUTUMLU</a:t>
            </a:r>
            <a:r>
              <a:rPr lang="tr-TR" sz="3360" b="1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– Arife ÇINAR</a:t>
            </a:r>
            <a:endParaRPr sz="336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3"/>
          <p:cNvSpPr txBox="1"/>
          <p:nvPr/>
        </p:nvSpPr>
        <p:spPr>
          <a:xfrm>
            <a:off x="1383028" y="5508807"/>
            <a:ext cx="11864340" cy="827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  <a:buClr>
                <a:srgbClr val="000000"/>
              </a:buClr>
              <a:buSzPts val="2800"/>
            </a:pPr>
            <a:r>
              <a:rPr lang="en-US" sz="3360" b="1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21253009</a:t>
            </a:r>
            <a:r>
              <a:rPr lang="tr-TR" sz="3360" b="1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- 21253014</a:t>
            </a:r>
            <a:endParaRPr sz="3360" b="1" dirty="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Words>831</Words>
  <Application>Microsoft Office PowerPoint</Application>
  <PresentationFormat>Custom</PresentationFormat>
  <Paragraphs>143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Calibri</vt:lpstr>
      <vt:lpstr>Arial</vt:lpstr>
      <vt:lpstr>Montserrat SemiBold</vt:lpstr>
      <vt:lpstr>Montserrat</vt:lpstr>
      <vt:lpstr>Roboto</vt:lpstr>
      <vt:lpstr>Funnel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Buğra TUTUMLU</cp:lastModifiedBy>
  <cp:revision>11</cp:revision>
  <dcterms:created xsi:type="dcterms:W3CDTF">2025-12-30T15:54:37Z</dcterms:created>
  <dcterms:modified xsi:type="dcterms:W3CDTF">2025-12-30T16:59:12Z</dcterms:modified>
</cp:coreProperties>
</file>