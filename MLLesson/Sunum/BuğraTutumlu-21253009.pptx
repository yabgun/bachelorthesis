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Montserrat" panose="00000500000000000000" pitchFamily="2" charset="-94"/>
      <p:regular r:id="rId14"/>
      <p:bold r:id="rId15"/>
      <p:italic r:id="rId16"/>
      <p:boldItalic r:id="rId17"/>
    </p:embeddedFont>
    <p:embeddedFont>
      <p:font typeface="Montserrat SemiBold" panose="00000700000000000000" pitchFamily="2" charset="-94"/>
      <p:regular r:id="rId18"/>
      <p:bold r:id="rId19"/>
      <p:italic r:id="rId20"/>
      <p:boldItalic r:id="rId21"/>
    </p:embeddedFont>
    <p:embeddedFont>
      <p:font typeface="Roboto" panose="020000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4" name="Google Shape;1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3" name="Google Shape;19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3" name="Google Shape;22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5" name="Google Shape;23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4210794"/>
            <a:ext cx="8572500" cy="171241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595433" y="2162399"/>
            <a:ext cx="9001125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2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SAĞLIK VERİLERİNDE </a:t>
            </a:r>
            <a:r>
              <a:rPr lang="tr-TR" sz="42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FELÇ RİSKİ SINIFLANDIRMASI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064663" y="4368709"/>
            <a:ext cx="6062663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1" i="0" u="none" strike="noStrike" cap="none" dirty="0" err="1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Hazırlayan</a:t>
            </a:r>
            <a:r>
              <a:rPr lang="tr-TR" sz="1350" b="1" i="0" u="none" strike="noStrike" cap="none" dirty="0" err="1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lar</a:t>
            </a:r>
            <a:r>
              <a:rPr lang="en-US" sz="1350" b="1" i="0" u="none" strike="noStrike" cap="none" dirty="0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Buğra TUTUMLU (21253009)</a:t>
            </a:r>
            <a:r>
              <a:rPr lang="tr-TR" sz="1350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  Arife ÇINAR (21253014)</a:t>
            </a:r>
            <a:endParaRPr lang="tr-TR" dirty="0">
              <a:ea typeface="Roboto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652381" y="4859022"/>
            <a:ext cx="288723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1" i="0" u="none" strike="noStrike" cap="none" dirty="0" err="1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Danışman</a:t>
            </a:r>
            <a:r>
              <a:rPr lang="en-US" sz="1350" b="1" i="0" u="none" strike="noStrike" cap="none" dirty="0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tr-TR" sz="135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Prof. Dr. Serdar İPLİKÇİ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681409" y="5602484"/>
            <a:ext cx="4973704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Pamukkale Üniversitesi | Mühendislik Fakültesi | Bilgisayar Mühendisliği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5425678" y="6287459"/>
            <a:ext cx="1340644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DENİZLİ, ARALIK 2025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13" descr="Pamukkale Üniversitesi - Vikipedi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323" y="325116"/>
            <a:ext cx="1219348" cy="121934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Dikdörtgen 1"/>
          <p:cNvSpPr/>
          <p:nvPr/>
        </p:nvSpPr>
        <p:spPr>
          <a:xfrm>
            <a:off x="4932055" y="1676779"/>
            <a:ext cx="2573140" cy="3381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</a:pPr>
            <a:r>
              <a:rPr lang="tr-TR" sz="12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</a:rPr>
              <a:t>MAKİNE ÖĞRENMESİNE GİRİŞ</a:t>
            </a:r>
            <a:endParaRPr lang="en-US" sz="1200" b="1" dirty="0">
              <a:solidFill>
                <a:srgbClr val="004AAD"/>
              </a:solidFill>
              <a:latin typeface="Montserrat"/>
              <a:ea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1332474" y="1852703"/>
            <a:ext cx="50322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Problem </a:t>
            </a:r>
            <a:r>
              <a:rPr lang="en-US" sz="1500" b="1" i="0" u="none" strike="noStrike" cap="none" dirty="0" err="1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Tanımı</a:t>
            </a:r>
            <a:r>
              <a:rPr lang="en-US" sz="1500" b="1" i="0" u="none" strike="noStrike" cap="none" dirty="0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tr-TR" sz="15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Klinik Tahminleme ve Sınıf Dengesizliği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332475" y="2593639"/>
            <a:ext cx="47148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tr-TR" sz="1500" b="1" i="0" u="none" strike="noStrike" cap="none" dirty="0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Veri İşleme Hattı</a:t>
            </a:r>
            <a:r>
              <a:rPr lang="en-US" sz="1500" b="1" i="0" u="none" strike="noStrike" cap="none" dirty="0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tr-TR" sz="15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Sistem Mimarisi ve Ön işleme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1332475" y="3321241"/>
            <a:ext cx="550146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tr-TR" sz="1500" b="1" i="0" u="none" strike="noStrike" cap="none" dirty="0" err="1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Feature</a:t>
            </a:r>
            <a:r>
              <a:rPr lang="tr-TR" sz="1500" b="1" i="0" u="none" strike="noStrike" cap="none" dirty="0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tr-TR" sz="1500" b="1" i="0" u="none" strike="noStrike" cap="none" dirty="0" err="1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Engineering</a:t>
            </a:r>
            <a:r>
              <a:rPr lang="en-US" sz="1500" b="1" i="0" u="none" strike="noStrike" cap="none" dirty="0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tr-TR" sz="150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Doğusal</a:t>
            </a:r>
            <a:r>
              <a:rPr lang="tr-TR" sz="15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Olmayan İlişkiler ve Sinerjik Etkiler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1332475" y="4018198"/>
            <a:ext cx="47148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tr-TR" sz="1500" b="1" i="0" u="none" strike="noStrike" cap="none" dirty="0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Veri Dengeleme</a:t>
            </a:r>
            <a:r>
              <a:rPr lang="en-US" sz="1500" b="1" i="0" u="none" strike="noStrike" cap="none" dirty="0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tr-TR" sz="150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Bootstrap</a:t>
            </a:r>
            <a:r>
              <a:rPr lang="tr-TR" sz="15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tr-TR" sz="150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Oversampling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1332477" y="4702521"/>
            <a:ext cx="56217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tr-TR" sz="1500" b="1" dirty="0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Model Performansı ve Optimizasyonu</a:t>
            </a:r>
            <a:r>
              <a:rPr lang="en-US" sz="1500" b="1" i="0" u="none" strike="noStrike" cap="none" dirty="0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tr-TR" sz="15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Kriterler, Eşik Değer Seçimi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1332476" y="5461568"/>
            <a:ext cx="47148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tr-TR" sz="1500" b="1" i="0" u="none" strike="noStrike" cap="none" dirty="0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Sonuç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4774193" y="660672"/>
            <a:ext cx="346276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n-US" sz="315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Sunum İçeriği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14" descr="A white circle with a line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1050" y="1774479"/>
            <a:ext cx="551427" cy="416912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 flipH="1">
            <a:off x="11453763" y="6418109"/>
            <a:ext cx="7382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1/10</a:t>
            </a: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 flipH="1">
            <a:off x="11453763" y="6418109"/>
            <a:ext cx="7382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2/10</a:t>
            </a: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 rot="10800000" flipH="1">
            <a:off x="4843604" y="4044595"/>
            <a:ext cx="45719" cy="45719"/>
          </a:xfrm>
          <a:prstGeom prst="rect">
            <a:avLst/>
          </a:prstGeom>
          <a:solidFill>
            <a:srgbClr val="F2DADA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32;p16">
            <a:extLst>
              <a:ext uri="{FF2B5EF4-FFF2-40B4-BE49-F238E27FC236}">
                <a16:creationId xmlns:a16="http://schemas.microsoft.com/office/drawing/2014/main" id="{7EAB87BF-B573-A0A3-A89E-91D5973AB7D7}"/>
              </a:ext>
            </a:extLst>
          </p:cNvPr>
          <p:cNvSpPr txBox="1"/>
          <p:nvPr/>
        </p:nvSpPr>
        <p:spPr>
          <a:xfrm>
            <a:off x="952500" y="571500"/>
            <a:ext cx="110013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tr-TR" sz="3150" b="0" i="0" u="none" strike="noStrike" cap="none" dirty="0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PROBLEM TANIMI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33;p16">
            <a:extLst>
              <a:ext uri="{FF2B5EF4-FFF2-40B4-BE49-F238E27FC236}">
                <a16:creationId xmlns:a16="http://schemas.microsoft.com/office/drawing/2014/main" id="{DA179868-F09B-6508-7BB4-B3954F58B5FD}"/>
              </a:ext>
            </a:extLst>
          </p:cNvPr>
          <p:cNvSpPr/>
          <p:nvPr/>
        </p:nvSpPr>
        <p:spPr>
          <a:xfrm>
            <a:off x="762000" y="571500"/>
            <a:ext cx="57150" cy="495300"/>
          </a:xfrm>
          <a:prstGeom prst="rect">
            <a:avLst/>
          </a:prstGeom>
          <a:solidFill>
            <a:srgbClr val="E30A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F29B56-256A-D4C1-C196-8D5146ADAEA8}"/>
              </a:ext>
            </a:extLst>
          </p:cNvPr>
          <p:cNvSpPr txBox="1"/>
          <p:nvPr/>
        </p:nvSpPr>
        <p:spPr>
          <a:xfrm>
            <a:off x="790575" y="2517645"/>
            <a:ext cx="4405363" cy="1731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800" b="1" dirty="0">
                <a:solidFill>
                  <a:srgbClr val="0F172A"/>
                </a:solidFill>
                <a:latin typeface="Montserrat"/>
              </a:rPr>
              <a:t>Sınıf Dengesizliği Sorunu</a:t>
            </a:r>
          </a:p>
          <a:p>
            <a:endParaRPr lang="tr-TR" sz="1800" b="1" dirty="0">
              <a:solidFill>
                <a:srgbClr val="0F172A"/>
              </a:solidFill>
              <a:latin typeface="Montserrat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tr-TR" sz="1800" b="1" dirty="0">
                <a:solidFill>
                  <a:srgbClr val="0F172A"/>
                </a:solidFill>
                <a:latin typeface="Montserrat"/>
              </a:rPr>
              <a:t>Veri Kümesi: </a:t>
            </a:r>
            <a:r>
              <a:rPr lang="tr-TR" sz="165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5110 Kayıt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tr-TR" sz="1800" b="1" dirty="0">
                <a:solidFill>
                  <a:srgbClr val="0F172A"/>
                </a:solidFill>
                <a:latin typeface="Montserrat"/>
              </a:rPr>
              <a:t>Kritik Risk: </a:t>
            </a:r>
            <a:r>
              <a:rPr lang="tr-TR" sz="165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Dengesiz Dağılım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tr-TR" sz="1800" b="1" dirty="0">
                <a:solidFill>
                  <a:srgbClr val="0F172A"/>
                </a:solidFill>
                <a:latin typeface="Montserrat"/>
              </a:rPr>
              <a:t>Motivasyon: </a:t>
            </a:r>
            <a:r>
              <a:rPr lang="tr-TR" sz="165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Erken Teşhis ve Hayati Önem</a:t>
            </a:r>
            <a:endParaRPr lang="en-US" sz="1650" dirty="0">
              <a:solidFill>
                <a:srgbClr val="334155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7" name="Google Shape;119;p16" descr="image.png">
            <a:extLst>
              <a:ext uri="{FF2B5EF4-FFF2-40B4-BE49-F238E27FC236}">
                <a16:creationId xmlns:a16="http://schemas.microsoft.com/office/drawing/2014/main" id="{F13C0E59-5A20-3A2F-56DC-FF8A547DF3D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17671" y="1810748"/>
            <a:ext cx="3673309" cy="351651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3C054E-7A4B-C0FB-A92F-AFC2C0C70092}"/>
              </a:ext>
            </a:extLst>
          </p:cNvPr>
          <p:cNvSpPr txBox="1"/>
          <p:nvPr/>
        </p:nvSpPr>
        <p:spPr>
          <a:xfrm>
            <a:off x="6717669" y="2244206"/>
            <a:ext cx="3673309" cy="346249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tr-TR" sz="1650" b="1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Toplam Veri: </a:t>
            </a:r>
            <a:r>
              <a:rPr lang="tr-TR" sz="165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5110</a:t>
            </a:r>
            <a:endParaRPr lang="en-US" sz="1650" dirty="0">
              <a:solidFill>
                <a:srgbClr val="334155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809446-13BF-A799-5A16-348AC4D04D47}"/>
              </a:ext>
            </a:extLst>
          </p:cNvPr>
          <p:cNvSpPr txBox="1"/>
          <p:nvPr/>
        </p:nvSpPr>
        <p:spPr>
          <a:xfrm>
            <a:off x="6717667" y="2590455"/>
            <a:ext cx="3673309" cy="346249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650">
                <a:solidFill>
                  <a:srgbClr val="334155"/>
                </a:solidFill>
                <a:latin typeface="Roboto"/>
                <a:ea typeface="Roboto"/>
                <a:cs typeface="Roboto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lang="tr-TR" b="1" dirty="0"/>
              <a:t>İnme Vakası: </a:t>
            </a:r>
            <a:r>
              <a:rPr lang="tr-TR" dirty="0"/>
              <a:t>249</a:t>
            </a:r>
            <a:endParaRPr lang="en-US" dirty="0"/>
          </a:p>
        </p:txBody>
      </p:sp>
      <p:pic>
        <p:nvPicPr>
          <p:cNvPr id="11" name="Picture 10" descr="A computer code with yellow and blue text&#10;&#10;AI-generated content may be incorrect.">
            <a:extLst>
              <a:ext uri="{FF2B5EF4-FFF2-40B4-BE49-F238E27FC236}">
                <a16:creationId xmlns:a16="http://schemas.microsoft.com/office/drawing/2014/main" id="{7BC69075-3C9B-DD55-FBD9-7DE0532D66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7670" y="3528340"/>
            <a:ext cx="3673309" cy="1123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682180"/>
            <a:ext cx="3365450" cy="3516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2682180"/>
            <a:ext cx="3365450" cy="3516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682180"/>
            <a:ext cx="3365450" cy="351651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1809750" y="1630858"/>
            <a:ext cx="8572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Temel Amaç: Tam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Homomorfik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Şifrelemenin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maliyet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yükünü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aşan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650" b="1" i="0" u="none" strike="noStrike" cap="none" dirty="0" err="1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Seçici</a:t>
            </a:r>
            <a:r>
              <a:rPr lang="en-US" sz="1650" b="1" i="0" u="none" strike="noStrike" cap="none" dirty="0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50" b="1" i="0" u="none" strike="noStrike" cap="none" dirty="0" err="1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Homomorfik</a:t>
            </a:r>
            <a:r>
              <a:rPr lang="en-US" sz="1650" b="1" i="0" u="none" strike="noStrike" cap="none" dirty="0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50" b="1" i="0" u="none" strike="noStrike" cap="none" dirty="0" err="1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Şifreleme</a:t>
            </a:r>
            <a:r>
              <a:rPr lang="en-US" sz="1650" b="1" i="0" u="none" strike="noStrike" cap="none" dirty="0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 (Selective HE)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mimarisini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geliştirmek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987902" y="3615630"/>
            <a:ext cx="291364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 err="1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Güvenlik</a:t>
            </a:r>
            <a:r>
              <a:rPr lang="en-US" sz="1800" b="1" i="0" u="none" strike="noStrike" cap="non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1" i="0" u="none" strike="noStrike" cap="none" dirty="0" err="1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Artışı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1057275" y="4272855"/>
            <a:ext cx="2774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%20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1057275" y="5263455"/>
            <a:ext cx="27749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Şifresiz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modele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kıyasla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saldırı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başarısında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azalma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4639102" y="3615630"/>
            <a:ext cx="291364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Hız Kazanımı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4708475" y="4272855"/>
            <a:ext cx="2774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%30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4708475" y="5263455"/>
            <a:ext cx="27750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FHE yöntemine kıyasla işlem süresi avantajı.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8290303" y="3615630"/>
            <a:ext cx="291364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Uygulanabilirlik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8359825" y="4450110"/>
            <a:ext cx="27749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Ev Tipi Donanım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8290303" y="5263455"/>
            <a:ext cx="27749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Yüksek maliyetli sunucular yerine standart PC'lerde çalışabilir yapı.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952500" y="571500"/>
            <a:ext cx="110013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n-US" sz="3150" b="0" i="0" u="none" strike="noStrike" cap="none" dirty="0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Amaç </a:t>
            </a:r>
            <a:r>
              <a:rPr lang="en-US" sz="3150" b="0" i="0" u="none" strike="noStrike" cap="none" dirty="0" err="1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ve</a:t>
            </a:r>
            <a:r>
              <a:rPr lang="en-US" sz="3150" b="0" i="0" u="none" strike="noStrike" cap="none" dirty="0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3150" b="0" i="0" u="none" strike="noStrike" cap="none" dirty="0" err="1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Hedefler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762000" y="571500"/>
            <a:ext cx="57150" cy="495300"/>
          </a:xfrm>
          <a:prstGeom prst="rect">
            <a:avLst/>
          </a:prstGeom>
          <a:solidFill>
            <a:srgbClr val="E30A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9600363" y="3034286"/>
            <a:ext cx="29352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5964306" y="3033116"/>
            <a:ext cx="2632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2328936" y="3033116"/>
            <a:ext cx="23157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 flipH="1">
            <a:off x="11453763" y="6418109"/>
            <a:ext cx="7382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3/10</a:t>
            </a: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332510" y="5495494"/>
            <a:ext cx="15240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47857"/>
                </a:solidFill>
                <a:latin typeface="Roboto"/>
                <a:ea typeface="Roboto"/>
                <a:cs typeface="Roboto"/>
                <a:sym typeface="Roboto"/>
              </a:rPr>
              <a:t>ÖZGÜN DEĞER (GAP):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1941656" y="5504584"/>
            <a:ext cx="13811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Merkezi Veri İşleme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3663228" y="5495493"/>
            <a:ext cx="2019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Çıktı G</a:t>
            </a:r>
            <a:r>
              <a:rPr lang="en-US" sz="1200" b="1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izliliği</a:t>
            </a:r>
            <a:r>
              <a:rPr lang="en-US" sz="1200" b="1" i="0" u="none" strike="noStrike" cap="none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 (Score Oracle)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181841" y="324896"/>
            <a:ext cx="110013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n-US" sz="315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Literatür Araştırması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0" y="324896"/>
            <a:ext cx="57150" cy="495300"/>
          </a:xfrm>
          <a:prstGeom prst="rect">
            <a:avLst/>
          </a:prstGeom>
          <a:solidFill>
            <a:srgbClr val="E30A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17" descr="A screenshot of a computer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83830"/>
            <a:ext cx="12192000" cy="349034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3322781" y="5454726"/>
            <a:ext cx="52337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 flipH="1">
            <a:off x="11453763" y="6418109"/>
            <a:ext cx="7382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4/10</a:t>
            </a: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3795712" y="217899"/>
            <a:ext cx="4600575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Yöntem: Hibrit Mimari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8"/>
          <p:cNvSpPr/>
          <p:nvPr/>
        </p:nvSpPr>
        <p:spPr>
          <a:xfrm flipH="1">
            <a:off x="0" y="0"/>
            <a:ext cx="45719" cy="6875353"/>
          </a:xfrm>
          <a:prstGeom prst="rect">
            <a:avLst/>
          </a:prstGeom>
          <a:solidFill>
            <a:srgbClr val="E30A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18" descr="A white background with black and white clouds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21760" y="762858"/>
            <a:ext cx="9659681" cy="875747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1076325" y="4078634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1076325" y="4383434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1076325" y="4993034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7915" y="853506"/>
            <a:ext cx="533346" cy="437617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1604962" y="892200"/>
            <a:ext cx="4191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Veri Sahibi: Ayrıştırma (İstemci)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1604962" y="1162912"/>
            <a:ext cx="648728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Veri kaynağında ikiye bölünür: Hassas olanlar kilitlenir, genel olanlar açık kalır.</a:t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7898567" y="840625"/>
            <a:ext cx="1597050" cy="649188"/>
          </a:xfrm>
          <a:prstGeom prst="flowChartTerminator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Genetik, Röntgen, Sigara</a:t>
            </a:r>
            <a:endParaRPr sz="1200" b="1" i="0" u="none" strike="noStrike" cap="none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9609519" y="846899"/>
            <a:ext cx="1358020" cy="649188"/>
          </a:xfrm>
          <a:prstGeom prst="flowChartTerminator">
            <a:avLst/>
          </a:prstGeom>
          <a:solidFill>
            <a:schemeClr val="accent3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Yaş, Cinsiyet, BMI</a:t>
            </a:r>
            <a:endParaRPr sz="1200" b="1" i="0" u="none" strike="noStrike" cap="none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7" name="Google Shape;167;p18" descr="A white background with black and white clouds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21759" y="2038659"/>
            <a:ext cx="9659681" cy="875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A white background with black and white clouds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21758" y="3314460"/>
            <a:ext cx="9659681" cy="875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A white background with black and white clouds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21757" y="4590261"/>
            <a:ext cx="9659681" cy="875747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1604962" y="2080730"/>
            <a:ext cx="60975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Sunucu: Hibrit Hesaplama</a:t>
            </a:r>
            <a:endParaRPr sz="1800" b="1" i="0" u="none" strike="noStrike" cap="none">
              <a:solidFill>
                <a:srgbClr val="004AA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1604961" y="2391186"/>
            <a:ext cx="648728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Sunucu şifreli ve açık verileri birbirine karıştırmadan, paralel kanallarda işler.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1604962" y="3355459"/>
            <a:ext cx="60975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Güvenli Birleştirme</a:t>
            </a:r>
            <a:endParaRPr sz="1800" b="1" i="0" u="none" strike="noStrike" cap="none">
              <a:solidFill>
                <a:srgbClr val="004AA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1604962" y="3724791"/>
            <a:ext cx="60975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İki kanaldan gelen sonuçlar, şifreleme bozulmadan tek bir sonuçta toplanır.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1604962" y="4619067"/>
            <a:ext cx="60975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İstemci: Karar Anı</a:t>
            </a:r>
            <a:endParaRPr sz="1800" b="1" i="0" u="none" strike="noStrike" cap="none">
              <a:solidFill>
                <a:srgbClr val="004AA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1604962" y="4991545"/>
            <a:ext cx="60975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Şifreli ham skor (Logit) istemciye döner. Anahtar sadece burada kullanılır.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85674" y="3613759"/>
            <a:ext cx="28194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91450" y="4839153"/>
            <a:ext cx="3324225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09833" y="2287551"/>
            <a:ext cx="141922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 descr="A white background with black and white clouds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9912" y="5668830"/>
            <a:ext cx="3692100" cy="875747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949913" y="5957315"/>
            <a:ext cx="341010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Python 3.9, Pyfhel, TenSEAL, Scikit-Learn </a:t>
            </a:r>
            <a:endParaRPr sz="1400" b="0" i="0" u="none" strike="noStrike" cap="none">
              <a:solidFill>
                <a:srgbClr val="4B556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 flipH="1">
            <a:off x="11453763" y="6418109"/>
            <a:ext cx="7382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5/10</a:t>
            </a: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952500" y="571500"/>
            <a:ext cx="110013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n-US" sz="315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Mevcut İlerleme ve Bulgular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762000" y="571500"/>
            <a:ext cx="57150" cy="495300"/>
          </a:xfrm>
          <a:prstGeom prst="rect">
            <a:avLst/>
          </a:prstGeom>
          <a:solidFill>
            <a:srgbClr val="E30A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066800"/>
            <a:ext cx="12192000" cy="533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/>
        </p:nvSpPr>
        <p:spPr>
          <a:xfrm flipH="1">
            <a:off x="11453763" y="6418109"/>
            <a:ext cx="7382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6/10</a:t>
            </a: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952500" y="571500"/>
            <a:ext cx="110013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n-US" sz="315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Mevcut İlerleme ve Bulgular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762000" y="571500"/>
            <a:ext cx="57150" cy="495300"/>
          </a:xfrm>
          <a:prstGeom prst="rect">
            <a:avLst/>
          </a:prstGeom>
          <a:solidFill>
            <a:srgbClr val="E30A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20" descr="A green line with red text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11828" y="1173480"/>
            <a:ext cx="7968343" cy="557784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 flipH="1">
            <a:off x="11453763" y="6418109"/>
            <a:ext cx="7382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7/10</a:t>
            </a: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5361" y="2452686"/>
            <a:ext cx="3200400" cy="191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95800" y="2452686"/>
            <a:ext cx="3200400" cy="221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56255" y="2452685"/>
            <a:ext cx="3200400" cy="19145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/>
          <p:nvPr/>
        </p:nvSpPr>
        <p:spPr>
          <a:xfrm>
            <a:off x="631983" y="1883568"/>
            <a:ext cx="10668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2200274" y="1710511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004AAD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5934074" y="1710511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004AAD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9667874" y="1721643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004AAD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930370" y="2605954"/>
            <a:ext cx="294036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Saldırı Simülasyonu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1065386" y="3017901"/>
            <a:ext cx="280035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Score Oracle saldırı kodlarının yazılması ve sistem direncinin test edilmesi.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4625816" y="2605954"/>
            <a:ext cx="294036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Cloud Entegresi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8386272" y="2599936"/>
            <a:ext cx="294036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Raporlama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8429625" y="2894932"/>
            <a:ext cx="280035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Deneysel sonuçların raporlaştırılması ve tezin nihai yazımı.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952500" y="571500"/>
            <a:ext cx="110013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n-US" sz="315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Gelecek İş Planı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762000" y="571500"/>
            <a:ext cx="57150" cy="495300"/>
          </a:xfrm>
          <a:prstGeom prst="rect">
            <a:avLst/>
          </a:prstGeom>
          <a:solidFill>
            <a:srgbClr val="E30A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4934139" y="3059939"/>
            <a:ext cx="2399169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Geliştirilen modelin Cloud ortamında çalıştırılması ve şifreleme – saldırı çalışmaların buralardan test edilmesi.</a:t>
            </a:r>
            <a:endParaRPr sz="1400" b="0" i="0" u="none" strike="noStrike" cap="none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 flipH="1">
            <a:off x="11453763" y="6418109"/>
            <a:ext cx="7382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8/10</a:t>
            </a: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2"/>
          <p:cNvSpPr/>
          <p:nvPr/>
        </p:nvSpPr>
        <p:spPr>
          <a:xfrm>
            <a:off x="762000" y="2250876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762000" y="3035647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762000" y="3820417"/>
            <a:ext cx="10668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952500" y="571500"/>
            <a:ext cx="110013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n-US" sz="315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KAYNAKÇA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762000" y="571500"/>
            <a:ext cx="57150" cy="495300"/>
          </a:xfrm>
          <a:prstGeom prst="rect">
            <a:avLst/>
          </a:prstGeom>
          <a:solidFill>
            <a:srgbClr val="E30A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632988" y="1269742"/>
            <a:ext cx="10926024" cy="501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-US" sz="12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Najjar, M.A., Huang, R.Y., Samaraweera, D. ve Shekhar, P., (2025), Secure Distributed Learning for CAVs: Defending Against Gradient Leakage with Leveled Homomorphic Encryption, arXiv:2506.07894.</a:t>
            </a:r>
            <a:endParaRPr sz="1200" b="0" i="0" u="none" strike="noStrike" cap="none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-US" sz="12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Hu, C. ve Li, B., (2025), MASKCRYPT: Federated Learning with Selective Homomorphic Encryption.</a:t>
            </a:r>
            <a:endParaRPr sz="1200" b="0" i="0" u="none" strike="noStrike" cap="none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-US" sz="12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Li, B., Yan, L., Han, J., Liu, J. ve Yu, L., (2025), SenseCrypt: Sensitivity-guided Selective Homomorphic Encryption for Joint Federated Learning in Cross-Device Scenarios, arXiv:2508.04100.</a:t>
            </a:r>
            <a:endParaRPr sz="1200" b="0" i="0" u="none" strike="noStrike" cap="none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-US" sz="12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Korkmaz, A. ve Rao, P., (2025), A Selective Homomorphic Encryption Approach for Faster Privacy-Preserving Federated Learning, ResearchGate, Preprint.</a:t>
            </a:r>
            <a:endParaRPr sz="1200" b="0" i="0" u="none" strike="noStrike" cap="none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-US" sz="12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Whiting, C. ve Dong, X. (2025). Privacy-preserving machine learning for credit card and healthcare applications: CKKS-based TenSEAL implementation with analysis of speed-security tradeoffs, STEM Fellowship Journal, 1(1).</a:t>
            </a:r>
            <a:endParaRPr sz="1200" b="0" i="0" u="none" strike="noStrike" cap="none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-US" sz="12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Al-Janabi, A.A., Al-Janabi, S. ve Al-Khateeb, B. (2025). Towards efficient and privacy preserving ECG classification: Federated transfer learning enhanced by CKKS-based homomorphic encryption, ResearchGate, 22(9), 3094–3113.</a:t>
            </a:r>
            <a:endParaRPr sz="1200" b="0" i="0" u="none" strike="noStrike" cap="none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-US" sz="12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Kahya, A., (2022), Machine learning over encrypted data with fully homomorphic encryption, tez No. 750200, YÖK Ulusal Tez Merkezi.</a:t>
            </a:r>
            <a:endParaRPr sz="1200" b="0" i="0" u="none" strike="noStrike" cap="none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-US" sz="12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Cheon, J.H., Kim, A., Kim, M. ve Song, Y. (2017). Homomorphic encryption for arithmetic of approximate numbers, T. Takagi ve T. Peyrin, (düzenleyenler), Advances in Cryptology– ASIACRYPT 2017, Springer, s.409–437.</a:t>
            </a:r>
            <a:endParaRPr sz="1200" b="0" i="0" u="none" strike="noStrike" cap="none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-US" sz="12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Brakerski, Z., Gentry, C. ve Vaikuntanathan, V. (2012). (Leveled) fully homomorphic encryption without bootstrapping, Proceedings of ITCS ’12, Association for Computing Machinery, s.309–325.</a:t>
            </a:r>
            <a:endParaRPr sz="1200" b="0" i="0" u="none" strike="noStrike" cap="none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-US" sz="12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Gentry, C.(2009). Fully homomorphic encryption using ideal lattices, Proceedings of the 41st ACM Symposium on Theory of Computing (STOC ’09), Association for Computing Machinery, s.169–178.</a:t>
            </a:r>
            <a:endParaRPr sz="1200" b="0" i="0" u="none" strike="noStrike" cap="none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2"/>
          <p:cNvSpPr txBox="1"/>
          <p:nvPr/>
        </p:nvSpPr>
        <p:spPr>
          <a:xfrm flipH="1">
            <a:off x="11453763" y="6418109"/>
            <a:ext cx="7382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9/10</a:t>
            </a: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805087"/>
            <a:ext cx="10668000" cy="187642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/>
        </p:nvSpPr>
        <p:spPr>
          <a:xfrm>
            <a:off x="495300" y="1214437"/>
            <a:ext cx="112014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2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BENİ DİNLEDİĞİNİZ İÇİN TEŞEKKÜRLER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3"/>
          <p:cNvSpPr txBox="1"/>
          <p:nvPr/>
        </p:nvSpPr>
        <p:spPr>
          <a:xfrm>
            <a:off x="762000" y="2502098"/>
            <a:ext cx="106680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Sorularınız?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905350" y="4137148"/>
            <a:ext cx="1038129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Buğra TUTUMLU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3"/>
          <p:cNvSpPr txBox="1"/>
          <p:nvPr/>
        </p:nvSpPr>
        <p:spPr>
          <a:xfrm>
            <a:off x="1152523" y="4590673"/>
            <a:ext cx="988695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21253009</a:t>
            </a:r>
            <a:endParaRPr sz="2800" b="1" i="0" u="none" strike="noStrike" cap="none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 flipH="1">
            <a:off x="11453763" y="6418109"/>
            <a:ext cx="7382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10/10</a:t>
            </a: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724</Words>
  <Application>Microsoft Office PowerPoint</Application>
  <PresentationFormat>Widescreen</PresentationFormat>
  <Paragraphs>89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Calibri</vt:lpstr>
      <vt:lpstr>Arial</vt:lpstr>
      <vt:lpstr>Montserrat SemiBold</vt:lpstr>
      <vt:lpstr>Wingdings</vt:lpstr>
      <vt:lpstr>Montserrat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cp:lastModifiedBy>Buğra TUTUMLU</cp:lastModifiedBy>
  <cp:revision>4</cp:revision>
  <dcterms:modified xsi:type="dcterms:W3CDTF">2025-12-30T15:22:05Z</dcterms:modified>
</cp:coreProperties>
</file>